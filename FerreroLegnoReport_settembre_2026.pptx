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0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f92ba46d-d72c-bacf-2d4f-495a71a4fa42}">
          <p14:sldIdLst>
            <p14:sldId id="256"/>
          </p14:sldIdLst>
        </p14:section>
        <p14:section name="Andamento e risultati" id="{0442d78d-a681-bc8b-9a99-7c2694691d88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Lead Generation" id="{f24579c0-b193-275b-16bb-876aa95ed2ea}">
          <p14:sldIdLst>
            <p14:sldId id="267"/>
            <p14:sldId id="268"/>
            <p14:sldId id="269"/>
            <p14:sldId id="270"/>
            <p14:sldId id="271"/>
          </p14:sldIdLst>
        </p14:section>
        <p14:section name="Focus Magazine" id="{ae7b677c-473f-3c39-7404-47793ac30f14}">
          <p14:sldIdLst>
            <p14:sldId id="272"/>
            <p14:sldId id="273"/>
            <p14:sldId id="274"/>
            <p14:sldId id="275"/>
          </p14:sldIdLst>
        </p14:section>
        <p14:section name="In chiusura" id="{0447de36-0e05-085d-102f-8f4c553c16a3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Settembre 2026</c:v>
                </c:pt>
              </c:strCache>
            </c:strRef>
          </c:tx>
          <c:spPr>
            <a:solidFill>
              <a:srgbClr val="E52217"/>
            </a:solidFill>
            <a:ln w="31750" cap="flat">
              <a:solidFill>
                <a:srgbClr val="E5221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2217"/>
              </a:solidFill>
              <a:ln w="9525" cap="flat">
                <a:solidFill>
                  <a:srgbClr val="E5221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584</c:v>
                </c:pt>
                <c:pt idx="1">
                  <c:v>702</c:v>
                </c:pt>
                <c:pt idx="2">
                  <c:v>633</c:v>
                </c:pt>
                <c:pt idx="3">
                  <c:v>656</c:v>
                </c:pt>
                <c:pt idx="4">
                  <c:v>564</c:v>
                </c:pt>
                <c:pt idx="5">
                  <c:v>521</c:v>
                </c:pt>
                <c:pt idx="6">
                  <c:v>623</c:v>
                </c:pt>
                <c:pt idx="7">
                  <c:v>620</c:v>
                </c:pt>
                <c:pt idx="8">
                  <c:v>941</c:v>
                </c:pt>
                <c:pt idx="9">
                  <c:v>935</c:v>
                </c:pt>
                <c:pt idx="10">
                  <c:v>1046</c:v>
                </c:pt>
                <c:pt idx="11">
                  <c:v>938</c:v>
                </c:pt>
                <c:pt idx="12">
                  <c:v>1024</c:v>
                </c:pt>
                <c:pt idx="13">
                  <c:v>938</c:v>
                </c:pt>
                <c:pt idx="14">
                  <c:v>986</c:v>
                </c:pt>
                <c:pt idx="15">
                  <c:v>1076</c:v>
                </c:pt>
                <c:pt idx="16">
                  <c:v>985</c:v>
                </c:pt>
                <c:pt idx="17">
                  <c:v>952</c:v>
                </c:pt>
                <c:pt idx="18">
                  <c:v>969</c:v>
                </c:pt>
                <c:pt idx="19">
                  <c:v>955</c:v>
                </c:pt>
                <c:pt idx="20">
                  <c:v>966</c:v>
                </c:pt>
                <c:pt idx="21">
                  <c:v>953</c:v>
                </c:pt>
                <c:pt idx="22">
                  <c:v>975</c:v>
                </c:pt>
                <c:pt idx="23">
                  <c:v>937</c:v>
                </c:pt>
                <c:pt idx="24">
                  <c:v>885</c:v>
                </c:pt>
                <c:pt idx="25">
                  <c:v>892</c:v>
                </c:pt>
                <c:pt idx="26">
                  <c:v>910</c:v>
                </c:pt>
                <c:pt idx="27">
                  <c:v>907</c:v>
                </c:pt>
                <c:pt idx="28">
                  <c:v>894</c:v>
                </c:pt>
                <c:pt idx="29">
                  <c:v>863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Settembre 2025</c:v>
                </c:pt>
              </c:strCache>
            </c:strRef>
          </c:tx>
          <c:spPr>
            <a:solidFill>
              <a:srgbClr val="CCCCCC"/>
            </a:solidFill>
            <a:ln w="3175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604</c:v>
                </c:pt>
                <c:pt idx="1">
                  <c:v>627</c:v>
                </c:pt>
                <c:pt idx="2">
                  <c:v>520</c:v>
                </c:pt>
                <c:pt idx="3">
                  <c:v>556</c:v>
                </c:pt>
                <c:pt idx="4">
                  <c:v>506</c:v>
                </c:pt>
                <c:pt idx="5">
                  <c:v>474</c:v>
                </c:pt>
                <c:pt idx="6">
                  <c:v>380</c:v>
                </c:pt>
                <c:pt idx="7">
                  <c:v>556</c:v>
                </c:pt>
                <c:pt idx="8">
                  <c:v>579</c:v>
                </c:pt>
                <c:pt idx="9">
                  <c:v>583</c:v>
                </c:pt>
                <c:pt idx="10">
                  <c:v>539</c:v>
                </c:pt>
                <c:pt idx="11">
                  <c:v>535</c:v>
                </c:pt>
                <c:pt idx="12">
                  <c:v>501</c:v>
                </c:pt>
                <c:pt idx="13">
                  <c:v>433</c:v>
                </c:pt>
                <c:pt idx="14">
                  <c:v>533</c:v>
                </c:pt>
                <c:pt idx="15">
                  <c:v>592</c:v>
                </c:pt>
                <c:pt idx="16">
                  <c:v>573</c:v>
                </c:pt>
                <c:pt idx="17">
                  <c:v>599</c:v>
                </c:pt>
                <c:pt idx="18">
                  <c:v>559</c:v>
                </c:pt>
                <c:pt idx="19">
                  <c:v>448</c:v>
                </c:pt>
                <c:pt idx="20">
                  <c:v>410</c:v>
                </c:pt>
                <c:pt idx="21">
                  <c:v>595</c:v>
                </c:pt>
                <c:pt idx="22">
                  <c:v>522</c:v>
                </c:pt>
                <c:pt idx="23">
                  <c:v>610</c:v>
                </c:pt>
                <c:pt idx="24">
                  <c:v>539</c:v>
                </c:pt>
                <c:pt idx="25">
                  <c:v>536</c:v>
                </c:pt>
                <c:pt idx="26">
                  <c:v>477</c:v>
                </c:pt>
                <c:pt idx="27">
                  <c:v>411</c:v>
                </c:pt>
                <c:pt idx="28">
                  <c:v>602</c:v>
                </c:pt>
                <c:pt idx="29">
                  <c:v>540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Canali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Pt>
            <c:idx val="2"/>
            <c:bubble3D val="0"/>
            <c:spPr>
              <a:solidFill>
                <a:srgbClr val="551FC4"/>
              </a:solidFill>
              <a:effectLst/>
            </c:spPr>
          </c:dPt>
          <c:dPt>
            <c:idx val="3"/>
            <c:bubble3D val="0"/>
            <c:spPr>
              <a:solidFill>
                <a:srgbClr val="118541"/>
              </a:solidFill>
              <a:effectLst/>
            </c:spPr>
          </c:dPt>
          <c:dPt>
            <c:idx val="4"/>
            <c:bubble3D val="0"/>
            <c:spPr>
              <a:solidFill>
                <a:srgbClr val="DB5E29"/>
              </a:solidFill>
              <a:effectLst/>
            </c:spPr>
          </c:dPt>
          <c:dPt>
            <c:idx val="5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191919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Paid Search</c:v>
                </c:pt>
                <c:pt idx="1">
                  <c:v>Paid Social</c:v>
                </c:pt>
                <c:pt idx="2">
                  <c:v>Cross-network</c:v>
                </c:pt>
                <c:pt idx="3">
                  <c:v>Organic Search</c:v>
                </c:pt>
                <c:pt idx="4">
                  <c:v>Direct</c:v>
                </c:pt>
                <c:pt idx="5">
                  <c:v>Altro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  <c:pt idx="5">
                  <c:v>1527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8129</c:v>
                </c:pt>
                <c:pt idx="1">
                  <c:v>5933</c:v>
                </c:pt>
                <c:pt idx="2">
                  <c:v>3917</c:v>
                </c:pt>
                <c:pt idx="3">
                  <c:v>4271</c:v>
                </c:pt>
                <c:pt idx="4">
                  <c:v>1914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Paid Search</c:v>
                  </c:pt>
                  <c:pt idx="1">
                    <c:v>Paid Social</c:v>
                  </c:pt>
                  <c:pt idx="2">
                    <c:v>Cross-net.</c:v>
                  </c:pt>
                  <c:pt idx="3">
                    <c:v>Organic</c:v>
                  </c:pt>
                  <c:pt idx="4">
                    <c:v>Direct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3876</c:v>
                </c:pt>
                <c:pt idx="1">
                  <c:v>4676</c:v>
                </c:pt>
                <c:pt idx="2">
                  <c:v>19</c:v>
                </c:pt>
                <c:pt idx="3">
                  <c:v>4448</c:v>
                </c:pt>
                <c:pt idx="4">
                  <c:v>2009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631</c:v>
                </c:pt>
                <c:pt idx="1">
                  <c:v>556</c:v>
                </c:pt>
                <c:pt idx="2">
                  <c:v>260</c:v>
                </c:pt>
                <c:pt idx="3">
                  <c:v>230</c:v>
                </c:pt>
                <c:pt idx="4">
                  <c:v>183</c:v>
                </c:pt>
                <c:pt idx="5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Homepage</c:v>
                  </c:pt>
                  <c:pt idx="1">
                    <c:v>Tutte le porte</c:v>
                  </c:pt>
                  <c:pt idx="2">
                    <c:v>Soluzioni speciali</c:v>
                  </c:pt>
                  <c:pt idx="3">
                    <c:v>Punti vendita</c:v>
                  </c:pt>
                  <c:pt idx="4">
                    <c:v>Porte filo muro</c:v>
                  </c:pt>
                  <c:pt idx="5">
                    <c:v>Maniglie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1237</c:v>
                </c:pt>
                <c:pt idx="1">
                  <c:v>422</c:v>
                </c:pt>
                <c:pt idx="2">
                  <c:v>397</c:v>
                </c:pt>
                <c:pt idx="3">
                  <c:v>170</c:v>
                </c:pt>
                <c:pt idx="4">
                  <c:v>214</c:v>
                </c:pt>
                <c:pt idx="5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DG Traffico</c:v>
                  </c:pt>
                  <c:pt idx="1">
                    <c:v>Search Generic</c:v>
                  </c:pt>
                  <c:pt idx="2">
                    <c:v>Brand Prot.</c:v>
                  </c:pt>
                  <c:pt idx="3">
                    <c:v>DG Lead Gen</c:v>
                  </c:pt>
                  <c:pt idx="4">
                    <c:v>Brand Product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19737</c:v>
                </c:pt>
                <c:pt idx="1">
                  <c:v>17384</c:v>
                </c:pt>
                <c:pt idx="2">
                  <c:v>2911</c:v>
                </c:pt>
                <c:pt idx="3">
                  <c:v>2288</c:v>
                </c:pt>
                <c:pt idx="4">
                  <c:v>1911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CPC</c:v>
                </c:pt>
              </c:strCache>
            </c:strRef>
          </c:tx>
          <c:spPr>
            <a:solidFill>
              <a:srgbClr val="578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Store Locator</c:v>
                  </c:pt>
                  <c:pt idx="1">
                    <c:v>Blog Consid.</c:v>
                  </c:pt>
                  <c:pt idx="2">
                    <c:v>Lead Gen Riv.</c:v>
                  </c:pt>
                  <c:pt idx="3">
                    <c:v>Promo PED</c:v>
                  </c:pt>
                  <c:pt idx="4">
                    <c:v>FEEL5 B2B</c:v>
                  </c:pt>
                  <c:pt idx="5">
                    <c:v>Area Pro B2B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</c:v>
                </c:pt>
                <c:pt idx="1">
                  <c:v>0.15</c:v>
                </c:pt>
                <c:pt idx="2">
                  <c:v>0.48</c:v>
                </c:pt>
                <c:pt idx="3">
                  <c:v>0.68</c:v>
                </c:pt>
                <c:pt idx="4">
                  <c:v>0.99</c:v>
                </c:pt>
                <c:pt idx="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Allocazione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2217"/>
              </a:solidFill>
              <a:effectLst/>
            </c:spPr>
          </c:dPt>
          <c:dPt>
            <c:idx val="1"/>
            <c:bubble3D val="0"/>
            <c:spPr>
              <a:solidFill>
                <a:srgbClr val="578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Google Ads</c:v>
                </c:pt>
                <c:pt idx="1">
                  <c:v>Meta Ads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5193</c:v>
                </c:pt>
                <c:pt idx="1">
                  <c:v>3826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 2026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56</c:v>
                </c:pt>
                <c:pt idx="2">
                  <c:v>54</c:v>
                </c:pt>
                <c:pt idx="3">
                  <c:v>38</c:v>
                </c:pt>
                <c:pt idx="4">
                  <c:v>25</c:v>
                </c:pt>
                <c:pt idx="5">
                  <c:v>7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 2025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Info prodotto</c:v>
                  </c:pt>
                  <c:pt idx="1">
                    <c:v>Registrazioni</c:v>
                  </c:pt>
                  <c:pt idx="2">
                    <c:v>FEEL5</c:v>
                  </c:pt>
                  <c:pt idx="3">
                    <c:v>Form contatto</c:v>
                  </c:pt>
                  <c:pt idx="4">
                    <c:v>Contatta PV</c:v>
                  </c:pt>
                  <c:pt idx="5">
                    <c:v>FEEL4</c:v>
                  </c:pt>
                  <c:pt idx="6">
                    <c:v>Newsletter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55</c:v>
                </c:pt>
                <c:pt idx="2">
                  <c:v>99</c:v>
                </c:pt>
                <c:pt idx="3">
                  <c:v>36</c:v>
                </c:pt>
                <c:pt idx="4">
                  <c:v>29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Lead per canale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781FF"/>
              </a:solidFill>
              <a:effectLst/>
            </c:spPr>
          </c:dPt>
          <c:dPt>
            <c:idx val="1"/>
            <c:bubble3D val="0"/>
            <c:spPr>
              <a:solidFill>
                <a:srgbClr val="E52217"/>
              </a:solidFill>
              <a:effectLst/>
            </c:spPr>
          </c:dPt>
          <c:dPt>
            <c:idx val="2"/>
            <c:bubble3D val="0"/>
            <c:spPr>
              <a:solidFill>
                <a:srgbClr val="118541"/>
              </a:solidFill>
              <a:effectLst/>
            </c:spPr>
          </c:dPt>
          <c:dPt>
            <c:idx val="3"/>
            <c:bubble3D val="0"/>
            <c:spPr>
              <a:solidFill>
                <a:srgbClr val="48484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Meta Ads</c:v>
                </c:pt>
                <c:pt idx="1">
                  <c:v>Google Ads</c:v>
                </c:pt>
                <c:pt idx="2">
                  <c:v>Organico</c:v>
                </c:pt>
                <c:pt idx="3">
                  <c:v>Diretto e altro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161</c:v>
                </c:pt>
                <c:pt idx="1">
                  <c:v>63</c:v>
                </c:pt>
                <c:pt idx="2">
                  <c:v>34</c:v>
                </c:pt>
                <c:pt idx="3">
                  <c:v>33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919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Sessioni</c:v>
                </c:pt>
              </c:strCache>
            </c:strRef>
          </c:tx>
          <c:spPr>
            <a:solidFill>
              <a:srgbClr val="E522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Nuovo magazine FEEL5 (landing)</c:v>
                  </c:pt>
                  <c:pt idx="1">
                    <c:v>Magazine FEEL (indice)</c:v>
                  </c:pt>
                  <c:pt idx="2">
                    <c:v>Download magazine FEEL5</c:v>
                  </c:pt>
                  <c:pt idx="3">
                    <c:v>Magazine FEEL4 (landing)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445</c:v>
                </c:pt>
                <c:pt idx="1">
                  <c:v>117</c:v>
                </c:pt>
                <c:pt idx="2">
                  <c:v>37</c:v>
                </c:pt>
                <c:pt idx="3">
                  <c:v>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E2A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919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Set 2026</c:v>
                  </c:pt>
                  <c:pt idx="1">
                    <c:v>Set 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1653</c:v>
                </c:pt>
                <c:pt idx="1">
                  <c:v>1354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919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4572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FERRERO</a:t>
            </a:r>
            <a:endParaRPr lang="en-US" sz="56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LEGNO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DESIGN TO BE OPEN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Report settembre 2026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 ottobre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6080760"/>
            <a:ext cx="201168" cy="201168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05840" y="6035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Andamento e risultati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Forte crescita delle sessioni a settembre: +59% rispetto al 2025, trainata dai canali paid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5544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4964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25.691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+59,4%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064240" y="19202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16.115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8412480" y="251460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49640" y="2587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UTENTI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18.350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2788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+69,7%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064240" y="28803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10.814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8412480" y="347472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547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VISUALIZZAZIONI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84.993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0" y="3749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+9,1%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11064240" y="384048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77.872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12480" y="443484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4F5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549640" y="45079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ENGAGEMENT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86,0%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-0,1pp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1064240" y="48006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86,1%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5486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traffico cresce grazie ai canali paid, che portano il 70% delle sessioni totali. Le sessioni giornaliere raggiungono picchi sopra le 1.000 dalla seconda settimana.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MIX CANALI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paid guida il 70% del traffico totale con Paid Search e Cross-network in fortissima crescita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74320" y="1554480"/>
          <a:ext cx="45720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5303520" y="155448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(+110%)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</a:t>
            </a:r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Cross-network (+20.516%)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trainano la crescita. Cross-network raccoglie Demand Gen, PMax, YouTube e Display. L'organic cala del 4%, il direct del 4,7%.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I NUMERI CHIAVE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L'organico continua il trend di calo YoY, trainato dalla contrazione della domanda e dall'erosione AI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(IT)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6.593 a 5.391 clic.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continua il trend dei mesi precedenti, legato alla contrazione della domanda e all'effetto AI Overview.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+1,7%</a:t>
            </a:r>
            <a:endParaRPr lang="en-US" sz="72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121.681 a 123.803 impression.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impression crescono leggermente, segno che il sito mantiene visibilità ma perde clic.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18288" cy="3200400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38160" y="17373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</a:t>
            </a:r>
            <a:endParaRPr lang="en-US" sz="72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POSIZIONI GUADAGNATE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37490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Da 15,9 a 11,9 posizione media.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posizionamento migliora sensibilmente, ma non basta a compensare il calo dei volumi di ricerca.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 - IT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ANALISI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Perché stiamo subendo questo calo?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mostra risposte generate dall'AI direttamente nei risultati di ricerca, riducendo i clic verso i siti web. I contenuti informativi, come quelli del magazine, sono i più colpiti. Il CTR medio scende da 5,42% a 4,35% (-1,07pp).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76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CALO RICERCHE BRAND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9768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legate al brand "Ferrero Legno" continuano a diminuire, in linea con un trend già visibile nei mesi precedenti. Questo riduce il volume di clic organici anche sulle pagine meglio posizionate.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1645920"/>
            <a:ext cx="502920" cy="50292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381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1691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CONTRAZIONE DOMANDA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2286000"/>
            <a:ext cx="3474720" cy="18288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138160" y="246888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settore porte e infissi di design registra una contrazione delle ricerche online a livello generale. Nonostante il miglioramento del posizionamento (+4 posizioni), il volume complessivo di ricerche è inferiore rispetto al 2025.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Google Trends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APPROFONDIMENTO GSC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ricerche brand calano fino al -53%, ma il catalogo prodotti cresce del 32%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QUERY BRAND: CONFRONTO YOY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Query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2026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 2025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8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254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537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-52,7%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-34,3%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ferrerolegno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-41,9%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porte interne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89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+45,9%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porte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+296,2%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listino prezzi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39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-38,1%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ferrero legno maniglie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31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-12,9%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3093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TOP PAGINE: VARIAZIONE CLIC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1874520"/>
          <a:ext cx="5394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475488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F4F5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40080" y="4846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GSC aggregato: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6.738 clic (-13,3%) | 220.993 impression (+12,1%) | CTR 3,05% (-0,89pp) | Pos. media 10,3 (vs 14,3: +4 posizioni)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5212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calo delle ricerche brand (-53% su "ferrero legno")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 compensato dalla crescita del catalogo: "tutte le porte" segna +32%, trainata dal paid. "Ferrero legno porte" e "ferrero porte interne" crescono grazie al posizionamento organico migliorato. Le impression globali crescono (+12%) nonostante il calo dei clic: il sito e piu visibile, ma l'AI Overview erode i clic.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Search Console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AL SITO | FOCUS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quadruplica i clic (+465%), Meta mantiene i volumi con CPC stabile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331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9900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465.037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3172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+552%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6484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8313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8313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+102%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3068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489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-64%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9651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 PAID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148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57,6%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548640"/>
          </a:xfrm>
          <a:prstGeom prst="roundRect">
            <a:avLst>
              <a:gd name="adj" fmla="val 13333"/>
            </a:avLst>
          </a:prstGeom>
          <a:solidFill>
            <a:srgbClr val="5781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2148840"/>
            <a:ext cx="5394960" cy="3429000"/>
          </a:xfrm>
          <a:prstGeom prst="roundRect">
            <a:avLst>
              <a:gd name="adj" fmla="val 2133"/>
            </a:avLst>
          </a:prstGeom>
          <a:solidFill>
            <a:srgbClr val="F4F5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6520" y="23317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-6,7%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29900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3172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663.579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0" y="3172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-8,0%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36484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38313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9144000" y="38313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+10,6%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43068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0" y="4489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+18,5%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446520" y="49651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TRAFFICO PAID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446520" y="5148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42,4%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2026: 9.019 € (Google 57,6% + Meta 42,4%)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e Search Generic sono i principali driver di crescita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371600"/>
                <a:gridCol w="1097280"/>
                <a:gridCol w="1371600"/>
                <a:gridCol w="10972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Impression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Generic (Consid.)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17.384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92.951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18,7%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2.827 €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Consideration Traffico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19.737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295.383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1.251 €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DG Conversion Lead Gen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2.288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64.777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0,28 €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Product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5.122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37,3%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Search Brand Protection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2.911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6.804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44.231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465.037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114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DISTRIBUZIONE CLIC PER CAMPAGNA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4343400"/>
          <a:ext cx="685800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11480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4F5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5528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YOY HIGHLIGHTS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5262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+465%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+102% (da 2.573 a 5.193 €)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-64% (da 0,33 a 0,12 €)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 non era attivo nel 2025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| DETTAGLIO CAMPAGNE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e Lead Gen rivenditori concentrano la maggior parte dell'investimento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097280"/>
                <a:gridCol w="1097280"/>
                <a:gridCol w="1371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Campagna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Link clic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CTR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CPC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Spesa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Gen Rivenditori DEF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2.308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0,48 €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1.108 €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Blog Consideration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7.059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2,26%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0,15 €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1.061 €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0,99 €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572 €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Iscrizioni Area Pro B2B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0,87%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1,13 €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Promo PED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0,07%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0,68 €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292 €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Store Locator B2C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2.108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0,11 €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237 €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12.970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1,01%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0,30 €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PER CAMPAGNA (€)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4251960"/>
          <a:ext cx="6858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023360"/>
            <a:ext cx="3931920" cy="201168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95528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INSIGHT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43484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CPC: spread 10x tra le campagne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Store Locator (0,11 €) e Blog (0,15 €) sono i piu efficienti per clic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e B2B hanno CPC piu alti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 portano conversioni dirette (lead, registrazioni)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ADVERTISING | ALLOCAZIONE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9.019 €: Google Ads assorbe il 57,6% del budget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9.019 €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 SETTEMBRE 2026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0" y="29260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5486400" y="1645920"/>
            <a:ext cx="6217920" cy="2194560"/>
          </a:xfrm>
          <a:prstGeom prst="roundRect">
            <a:avLst>
              <a:gd name="adj" fmla="val 4167"/>
            </a:avLst>
          </a:prstGeom>
          <a:solidFill>
            <a:srgbClr val="F4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0" y="1645920"/>
            <a:ext cx="73152" cy="2194560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6072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57,6% del budget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76072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5.193 €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44.231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0" y="22860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0,12 €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576072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in calo del 64%: il canale più efficiente per volumi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0" y="4206240"/>
            <a:ext cx="6217920" cy="2194560"/>
          </a:xfrm>
          <a:prstGeom prst="roundRect">
            <a:avLst>
              <a:gd name="adj" fmla="val 4167"/>
            </a:avLst>
          </a:prstGeom>
          <a:solidFill>
            <a:srgbClr val="F4F5F6"/>
          </a:solidFill>
          <a:ln/>
        </p:spPr>
      </p:sp>
      <p:sp>
        <p:nvSpPr>
          <p:cNvPr id="22" name="Shape 19"/>
          <p:cNvSpPr/>
          <p:nvPr/>
        </p:nvSpPr>
        <p:spPr>
          <a:xfrm>
            <a:off x="5486400" y="4206240"/>
            <a:ext cx="73152" cy="2194560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7607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42,4% del budget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3.826 €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12.970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9784080" y="4846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978408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0,30 €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7607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stabile, Blog Consideration è il best performer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28600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</a:t>
            </a:r>
            <a:endParaRPr lang="en-US" sz="3800" dirty="0"/>
          </a:p>
          <a:p>
            <a:pPr indent="0" marL="0">
              <a:buNone/>
            </a:pPr>
            <a:r>
              <a:rPr lang="en-US" sz="3800" i="1" dirty="0">
                <a:solidFill>
                  <a:srgbClr val="88888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2026.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PANORAMICA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 lead totali: la landing rivenditori porta 215 preventivi, compensando il calo tradizionale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TOTALI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459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settembre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PREVENTIVI LP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nuovo canale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138160" y="155448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6459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377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-24,5% vs 2025</a:t>
            </a:r>
            <a:endParaRPr lang="en-US" sz="9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2926080"/>
          <a:ext cx="112471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ATTRIBUZIONE PER CANALE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genera il 55% delle lead tracciate con un costo per lead inferiore del 60% rispetto a Google</a:t>
            </a:r>
            <a:endParaRPr lang="en-US" sz="2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0" y="155448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731520"/>
                <a:gridCol w="822960"/>
                <a:gridCol w="82296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Canale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% totale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Lead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Costo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costo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Meta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+117,6%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3.826 €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Google Ads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+31,3%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5.193 €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+101,7%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Organico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11,7%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-34,6%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Diretto e altro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11,3%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+22,2%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201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+44,8%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9.019 €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+48,3%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40080" y="54406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Ads: CPL 23,8 € (161 lead con 3.826 €)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</a:t>
            </a:r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Ads: CPL 82,4 € (63 lead con 5.193 €).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porta il 55% delle lead con il 42% del budget, confermandosi il canale paid piu efficiente per la generazione di contatti.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(lead event), Google Ads, Meta Ads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DETTAGLIO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Dettaglio completo per tipologia di lead e fonte dati</a:t>
            </a:r>
            <a:endParaRPr lang="en-US" sz="2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Tipologia lead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Fonte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2026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Set 2025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Var. %</a:t>
                      </a:r>
                      <a:endParaRPr lang="en-US" sz="9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9191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Preventivo LP (landing rivenditori)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215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nuovo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Info prodotto (totale)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 + 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61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100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-39,0%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Registrazioni 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+1,8%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54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99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-45,5%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Form contatto (IT/EN/ES/FR)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38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36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+5,6%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Contatta PV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MyArea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25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-13,8%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FEEL4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7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+250,0%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Newsletter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HubSpot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18541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+50,0%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(escl.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244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323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E52217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-24,5%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0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Totale (incl. Preventivo LP)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91919"/>
                          </a:solidFill>
                          <a:latin typeface="Figtree" pitchFamily="34" charset="0"/>
                          <a:ea typeface="Figtree" pitchFamily="34" charset="-122"/>
                          <a:cs typeface="Figtree" pitchFamily="34" charset="-120"/>
                        </a:rPr>
                        <a:t>459</a:t>
                      </a: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Figtree" charset="0"/>
                        <a:ea typeface="Figtree" charset="0"/>
                        <a:cs typeface="Figtree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nuova landing rivenditori (Preventivo LP) </a:t>
            </a:r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è il dato più significativo del mese: 215 preventivi da un canale completamente nuovo. Tra le lead tradizionali, il calo di FEEL5 (-45,5%) e info prodotto (-39%) è parzialmente compensato dalla stabilità delle registrazioni area (+1,8%) e dei form contatto (+5,6%).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HubSpot, MyArea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GENERATION | FOCUS RIVENDITORI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215 preventivi dalla landing rivenditori: Meta porta 120 lead, Google 26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394960" cy="73152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Google Ads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DG Conversion Lead Gen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64.777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2.288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636 €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0,28 €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~26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Search 9 + Cross-network 17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554480"/>
            <a:ext cx="5394960" cy="4297680"/>
          </a:xfrm>
          <a:prstGeom prst="roundRect">
            <a:avLst>
              <a:gd name="adj" fmla="val 2128"/>
            </a:avLst>
          </a:prstGeom>
          <a:solidFill>
            <a:srgbClr val="F4F5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554480"/>
            <a:ext cx="5394960" cy="73152"/>
          </a:xfrm>
          <a:prstGeom prst="rect">
            <a:avLst/>
          </a:prstGeom>
          <a:solidFill>
            <a:srgbClr val="5781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Campagna Meta Ads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0574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Gen Rivenditori DEF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542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36.082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632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0449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2.308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566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547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1.108 €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1,92%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92240" y="4572000"/>
            <a:ext cx="4846320" cy="822960"/>
          </a:xfrm>
          <a:prstGeom prst="roundRect">
            <a:avLst>
              <a:gd name="adj" fmla="val 8889"/>
            </a:avLst>
          </a:prstGeom>
          <a:solidFill>
            <a:srgbClr val="FFF0E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675120" y="4572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120 </a:t>
            </a:r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attribuite (GA4)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Paid Social, submit_contact_form_lp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totale HubSpot (215 preventivi) supera le lead tracciate in GA4 perche include compilazioni da utenti di ritorno, organico e diretto non sempre attribuibili ai canali paid.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GA4, HubSpot, Google Ads, Meta Ads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Focus Magazine.</a:t>
            </a:r>
            <a:endParaRPr lang="en-US" sz="3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ORGANICO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magazine guadagna 10 posizioni ma perde clic per effetto AI Overview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-21%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92 vs 117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-17%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IMPRESSION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8.267 vs 9.969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1,11%</a:t>
            </a:r>
            <a:endParaRPr lang="en-US" sz="4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 MEDIO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1,17%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961120" y="155448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F4F5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8,7</a:t>
            </a:r>
            <a:endParaRPr lang="en-US" sz="4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POSIZIONE MEDIA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3154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vs 19,4 (+10,7 pos.)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migliora da 19,4 a 8,7 (+10,7 posizioni): 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risultato molto significativo. Tuttavia i clic diminuiscono del 21% per la contrazione delle impression (-17%). L'erosione del CTR da AI Overview continua a incidere particolarmente sui contenuti informativi del magazine.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0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5440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Download magazine FEEL: 35 (set 2026) vs 69 (set 2025) = -49%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GSC,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TRAFFICO PAID | MAGAZINE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campagna Blog Consideration porta 7.059 clic al magazine con CPC molto efficiente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4F5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691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781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(META ADS)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LINK CLIC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7.059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REACH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136.533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CTR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2,26%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CPC MEDIO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0,15 €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1031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2331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1.061 €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ALLE PAGINE MAGAZINE (GA4)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7200" y="3931920"/>
          <a:ext cx="112471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Meta Ads, GA4 | Periodo: set 2026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si conferma un canale in crescita: sessioni +22% rispetto al 2025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11854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+22%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CRESCITA SESSIONI DA PINTEREST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0" y="164592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7373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486400" y="274320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0" y="28346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SESSIONI SET 2025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063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1.354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486400" y="3840480"/>
            <a:ext cx="6217920" cy="9144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0" y="39319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QUOTA SUL TOTALE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4160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6,4%</a:t>
            </a:r>
            <a:endParaRPr lang="en-US" sz="26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3474720"/>
          <a:ext cx="45720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5486400" y="48463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è un canale che porta traffico qualificato, con utenti interessati al design e all'arredamento. La crescita del 22% conferma il valore della presenza organica sulla piattaforma.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Fonte dati: GA4 | Periodo: set 2026 vs set 2025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9191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 chiusura.</a:t>
            </a:r>
            <a:endParaRPr lang="en-US" sz="3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ADVERTISING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dell'advertising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Ads quadruplica i clic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+465% clic (44.231 vs 7.834), con un CPC in calo del 64% grazie all'efficienza delle campagne Demand Gen. Investimento: 5.193 € (+102%).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 Gen, il nuovo protagonista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campagne Demand Gen (assenti nel 2025) portano oltre 22.000 clic con CPC medio di 0,06 €, il canale paid più efficiente in assoluto.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Ads mantiene i volumi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Blog Consideration è il best performer: 7.059 clic con CPC di 0,15 €. Lead Gen Rivenditori porta 2.308 clic con CTR dell'1,92%.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Landing rivenditori: 215 preventivi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Il nuovo canale genera 215 preventivi tra Google Ads (DG Conversion, 636 €) e Meta Ads (Lead Gen Riv., 1.108 €).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Investimento totale: 9.019 €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Google 57,6% (5.193 €) + Meta 42,4% (3.826 €). Il paid porta il 70% del traffico totale al sito.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36576"/>
          </a:xfrm>
          <a:prstGeom prst="rect">
            <a:avLst/>
          </a:prstGeom>
          <a:solidFill>
            <a:srgbClr val="E5221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221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RIEPILOGO | SEO E ORGANICO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1292840" y="6400800"/>
            <a:ext cx="164592" cy="164592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94008" y="635508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moca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 risultati chiave del canale organico a settembre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Clic organici in calo, posizionamento in crescita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783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-18% clic in Italia (5.391 vs 6.593), ma la posizione media migliora da 15,9 a 11,9 (+4 posizioni). Le impression crescono dell'1,7%.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68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 Overview è il principale driver del calo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 risposte generate dall'AI nei risultati di ricerca Google erodono il CTR dei siti web, in particolare sui contenuti informativi.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474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Magazine: +10 posizioni guadagnate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94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posizione media del magazine migliora da 19,4 a 8,7 (+10,7 posizioni), un risultato molto significativo nonostante il calo dei clic (-21%).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526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480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Pinterest cresce del 22%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8006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1.653 sessioni da Pinterest (+22,1%), confermando il valore della presenza organica su una piattaforma allineata al target di design.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532120"/>
            <a:ext cx="411480" cy="411480"/>
          </a:xfrm>
          <a:prstGeom prst="ellipse">
            <a:avLst/>
          </a:prstGeom>
          <a:solidFill>
            <a:srgbClr val="E5221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5486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Lead tradizionali in calo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8064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244 lead tradizionali (-24,5%), in particolare FEEL5 (-45,5%) e info prodotto (-39%). Stabili registrazioni area (+1,8%) e form contatto (+5,6%).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errero Legno Report">
  <a:themeElements>
    <a:clrScheme name="Ferrero Legno Report">
      <a:dk1>
        <a:srgbClr val="191919"/>
      </a:dk1>
      <a:lt1>
        <a:srgbClr val="FFFFFF"/>
      </a:lt1>
      <a:dk2>
        <a:srgbClr val="595959"/>
      </a:dk2>
      <a:lt2>
        <a:srgbClr val="F4F5F6"/>
      </a:lt2>
      <a:accent1>
        <a:srgbClr val="E52217"/>
      </a:accent1>
      <a:accent2>
        <a:srgbClr val="118541"/>
      </a:accent2>
      <a:accent3>
        <a:srgbClr val="5781FF"/>
      </a:accent3>
      <a:accent4>
        <a:srgbClr val="551FC4"/>
      </a:accent4>
      <a:accent5>
        <a:srgbClr val="CE2A59"/>
      </a:accent5>
      <a:accent6>
        <a:srgbClr val="DB5E29"/>
      </a:accent6>
      <a:hlink>
        <a:srgbClr val="E52217"/>
      </a:hlink>
      <a:folHlink>
        <a:srgbClr val="CE2A59"/>
      </a:folHlink>
    </a:clrScheme>
    <a:fontScheme name="Ferrero Legno Report">
      <a:majorFont>
        <a:latin typeface="Figtre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moca interactive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Ferrero Legno - Report Settembre 2026</dc:title>
  <dc:subject>Report mensile settembre 2026</dc:subject>
  <dc:creator>moca interactive</dc:creator>
  <cp:lastModifiedBy>moca interactive</cp:lastModifiedBy>
  <cp:revision>1</cp:revision>
  <dcterms:created xsi:type="dcterms:W3CDTF">2026-10-13T13:27:22Z</dcterms:created>
  <dcterms:modified xsi:type="dcterms:W3CDTF">2026-10-13T13:27:22Z</dcterms:modified>
</cp:coreProperties>
</file>