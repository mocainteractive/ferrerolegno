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0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1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dd6de579-e6a8-360c-d970-f98302ac750e}">
          <p14:sldIdLst>
            <p14:sldId id="256"/>
          </p14:sldIdLst>
        </p14:section>
        <p14:section name="Andamento e risultati" id="{228325bd-83c0-ff25-4640-54696aab0b54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Lead Generation" id="{594fa67a-beac-93d4-c592-e36a82e9ddad}">
          <p14:sldIdLst>
            <p14:sldId id="269"/>
            <p14:sldId id="270"/>
            <p14:sldId id="271"/>
            <p14:sldId id="272"/>
            <p14:sldId id="273"/>
          </p14:sldIdLst>
        </p14:section>
        <p14:section name="Focus Magazine" id="{0a116215-94e1-282b-4ce5-7702566441bb}">
          <p14:sldIdLst>
            <p14:sldId id="274"/>
            <p14:sldId id="275"/>
            <p14:sldId id="276"/>
            <p14:sldId id="277"/>
            <p14:sldId id="278"/>
          </p14:sldIdLst>
        </p14:section>
        <p14:section name="In chiusura" id="{16aa3054-aced-7965-0f53-8997c67dc729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Settembre 2026</c:v>
                </c:pt>
              </c:strCache>
            </c:strRef>
          </c:tx>
          <c:spPr>
            <a:solidFill>
              <a:srgbClr val="E52217"/>
            </a:solidFill>
            <a:ln w="31750" cap="flat">
              <a:solidFill>
                <a:srgbClr val="E5221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52217"/>
              </a:solidFill>
              <a:ln w="9525" cap="flat">
                <a:solidFill>
                  <a:srgbClr val="E5221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584</c:v>
                </c:pt>
                <c:pt idx="1">
                  <c:v>702</c:v>
                </c:pt>
                <c:pt idx="2">
                  <c:v>633</c:v>
                </c:pt>
                <c:pt idx="3">
                  <c:v>656</c:v>
                </c:pt>
                <c:pt idx="4">
                  <c:v>564</c:v>
                </c:pt>
                <c:pt idx="5">
                  <c:v>521</c:v>
                </c:pt>
                <c:pt idx="6">
                  <c:v>623</c:v>
                </c:pt>
                <c:pt idx="7">
                  <c:v>620</c:v>
                </c:pt>
                <c:pt idx="8">
                  <c:v>941</c:v>
                </c:pt>
                <c:pt idx="9">
                  <c:v>935</c:v>
                </c:pt>
                <c:pt idx="10">
                  <c:v>1046</c:v>
                </c:pt>
                <c:pt idx="11">
                  <c:v>938</c:v>
                </c:pt>
                <c:pt idx="12">
                  <c:v>1024</c:v>
                </c:pt>
                <c:pt idx="13">
                  <c:v>938</c:v>
                </c:pt>
                <c:pt idx="14">
                  <c:v>986</c:v>
                </c:pt>
                <c:pt idx="15">
                  <c:v>1076</c:v>
                </c:pt>
                <c:pt idx="16">
                  <c:v>985</c:v>
                </c:pt>
                <c:pt idx="17">
                  <c:v>952</c:v>
                </c:pt>
                <c:pt idx="18">
                  <c:v>969</c:v>
                </c:pt>
                <c:pt idx="19">
                  <c:v>955</c:v>
                </c:pt>
                <c:pt idx="20">
                  <c:v>966</c:v>
                </c:pt>
                <c:pt idx="21">
                  <c:v>953</c:v>
                </c:pt>
                <c:pt idx="22">
                  <c:v>975</c:v>
                </c:pt>
                <c:pt idx="23">
                  <c:v>937</c:v>
                </c:pt>
                <c:pt idx="24">
                  <c:v>885</c:v>
                </c:pt>
                <c:pt idx="25">
                  <c:v>892</c:v>
                </c:pt>
                <c:pt idx="26">
                  <c:v>910</c:v>
                </c:pt>
                <c:pt idx="27">
                  <c:v>907</c:v>
                </c:pt>
                <c:pt idx="28">
                  <c:v>894</c:v>
                </c:pt>
                <c:pt idx="29">
                  <c:v>863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Settembre 2025</c:v>
                </c:pt>
              </c:strCache>
            </c:strRef>
          </c:tx>
          <c:spPr>
            <a:solidFill>
              <a:srgbClr val="CCCCCC"/>
            </a:solidFill>
            <a:ln w="3175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604</c:v>
                </c:pt>
                <c:pt idx="1">
                  <c:v>627</c:v>
                </c:pt>
                <c:pt idx="2">
                  <c:v>520</c:v>
                </c:pt>
                <c:pt idx="3">
                  <c:v>556</c:v>
                </c:pt>
                <c:pt idx="4">
                  <c:v>506</c:v>
                </c:pt>
                <c:pt idx="5">
                  <c:v>474</c:v>
                </c:pt>
                <c:pt idx="6">
                  <c:v>380</c:v>
                </c:pt>
                <c:pt idx="7">
                  <c:v>556</c:v>
                </c:pt>
                <c:pt idx="8">
                  <c:v>579</c:v>
                </c:pt>
                <c:pt idx="9">
                  <c:v>583</c:v>
                </c:pt>
                <c:pt idx="10">
                  <c:v>539</c:v>
                </c:pt>
                <c:pt idx="11">
                  <c:v>535</c:v>
                </c:pt>
                <c:pt idx="12">
                  <c:v>501</c:v>
                </c:pt>
                <c:pt idx="13">
                  <c:v>433</c:v>
                </c:pt>
                <c:pt idx="14">
                  <c:v>533</c:v>
                </c:pt>
                <c:pt idx="15">
                  <c:v>592</c:v>
                </c:pt>
                <c:pt idx="16">
                  <c:v>573</c:v>
                </c:pt>
                <c:pt idx="17">
                  <c:v>599</c:v>
                </c:pt>
                <c:pt idx="18">
                  <c:v>559</c:v>
                </c:pt>
                <c:pt idx="19">
                  <c:v>448</c:v>
                </c:pt>
                <c:pt idx="20">
                  <c:v>410</c:v>
                </c:pt>
                <c:pt idx="21">
                  <c:v>595</c:v>
                </c:pt>
                <c:pt idx="22">
                  <c:v>522</c:v>
                </c:pt>
                <c:pt idx="23">
                  <c:v>610</c:v>
                </c:pt>
                <c:pt idx="24">
                  <c:v>539</c:v>
                </c:pt>
                <c:pt idx="25">
                  <c:v>536</c:v>
                </c:pt>
                <c:pt idx="26">
                  <c:v>477</c:v>
                </c:pt>
                <c:pt idx="27">
                  <c:v>411</c:v>
                </c:pt>
                <c:pt idx="28">
                  <c:v>602</c:v>
                </c:pt>
                <c:pt idx="29">
                  <c:v>540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Canali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2217"/>
              </a:solidFill>
              <a:effectLst/>
            </c:spPr>
          </c:dPt>
          <c:dPt>
            <c:idx val="1"/>
            <c:bubble3D val="0"/>
            <c:spPr>
              <a:solidFill>
                <a:srgbClr val="5781FF"/>
              </a:solidFill>
              <a:effectLst/>
            </c:spPr>
          </c:dPt>
          <c:dPt>
            <c:idx val="2"/>
            <c:bubble3D val="0"/>
            <c:spPr>
              <a:solidFill>
                <a:srgbClr val="551FC4"/>
              </a:solidFill>
              <a:effectLst/>
            </c:spPr>
          </c:dPt>
          <c:dPt>
            <c:idx val="3"/>
            <c:bubble3D val="0"/>
            <c:spPr>
              <a:solidFill>
                <a:srgbClr val="118541"/>
              </a:solidFill>
              <a:effectLst/>
            </c:spPr>
          </c:dPt>
          <c:dPt>
            <c:idx val="4"/>
            <c:bubble3D val="0"/>
            <c:spPr>
              <a:solidFill>
                <a:srgbClr val="DB5E29"/>
              </a:solidFill>
              <a:effectLst/>
            </c:spPr>
          </c:dPt>
          <c:dPt>
            <c:idx val="5"/>
            <c:bubble3D val="0"/>
            <c:spPr>
              <a:solidFill>
                <a:srgbClr val="48484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Paid Search</c:v>
                </c:pt>
                <c:pt idx="1">
                  <c:v>Paid Social</c:v>
                </c:pt>
                <c:pt idx="2">
                  <c:v>Cross-network</c:v>
                </c:pt>
                <c:pt idx="3">
                  <c:v>Organic Search</c:v>
                </c:pt>
                <c:pt idx="4">
                  <c:v>Direct</c:v>
                </c:pt>
                <c:pt idx="5">
                  <c:v>Altro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8129</c:v>
                </c:pt>
                <c:pt idx="1">
                  <c:v>5933</c:v>
                </c:pt>
                <c:pt idx="2">
                  <c:v>3917</c:v>
                </c:pt>
                <c:pt idx="3">
                  <c:v>4271</c:v>
                </c:pt>
                <c:pt idx="4">
                  <c:v>1914</c:v>
                </c:pt>
                <c:pt idx="5">
                  <c:v>1527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2026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Paid Search</c:v>
                  </c:pt>
                  <c:pt idx="1">
                    <c:v>Paid Social</c:v>
                  </c:pt>
                  <c:pt idx="2">
                    <c:v>Cross-net.</c:v>
                  </c:pt>
                  <c:pt idx="3">
                    <c:v>Organic</c:v>
                  </c:pt>
                  <c:pt idx="4">
                    <c:v>Direct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8129</c:v>
                </c:pt>
                <c:pt idx="1">
                  <c:v>5933</c:v>
                </c:pt>
                <c:pt idx="2">
                  <c:v>3917</c:v>
                </c:pt>
                <c:pt idx="3">
                  <c:v>4271</c:v>
                </c:pt>
                <c:pt idx="4">
                  <c:v>1914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 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Paid Search</c:v>
                  </c:pt>
                  <c:pt idx="1">
                    <c:v>Paid Social</c:v>
                  </c:pt>
                  <c:pt idx="2">
                    <c:v>Cross-net.</c:v>
                  </c:pt>
                  <c:pt idx="3">
                    <c:v>Organic</c:v>
                  </c:pt>
                  <c:pt idx="4">
                    <c:v>Direct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3876</c:v>
                </c:pt>
                <c:pt idx="1">
                  <c:v>4676</c:v>
                </c:pt>
                <c:pt idx="2">
                  <c:v>19</c:v>
                </c:pt>
                <c:pt idx="3">
                  <c:v>4448</c:v>
                </c:pt>
                <c:pt idx="4">
                  <c:v>2009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2026</c:v>
                </c:pt>
              </c:strCache>
            </c:strRef>
          </c:tx>
          <c:spPr>
            <a:solidFill>
              <a:srgbClr val="578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Homepage</c:v>
                  </c:pt>
                  <c:pt idx="1">
                    <c:v>Tutte le porte</c:v>
                  </c:pt>
                  <c:pt idx="2">
                    <c:v>Soluzioni speciali</c:v>
                  </c:pt>
                  <c:pt idx="3">
                    <c:v>Punti vendita</c:v>
                  </c:pt>
                  <c:pt idx="4">
                    <c:v>Porte filo muro</c:v>
                  </c:pt>
                  <c:pt idx="5">
                    <c:v>Maniglie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631</c:v>
                </c:pt>
                <c:pt idx="1">
                  <c:v>556</c:v>
                </c:pt>
                <c:pt idx="2">
                  <c:v>260</c:v>
                </c:pt>
                <c:pt idx="3">
                  <c:v>230</c:v>
                </c:pt>
                <c:pt idx="4">
                  <c:v>183</c:v>
                </c:pt>
                <c:pt idx="5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 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Homepage</c:v>
                  </c:pt>
                  <c:pt idx="1">
                    <c:v>Tutte le porte</c:v>
                  </c:pt>
                  <c:pt idx="2">
                    <c:v>Soluzioni speciali</c:v>
                  </c:pt>
                  <c:pt idx="3">
                    <c:v>Punti vendita</c:v>
                  </c:pt>
                  <c:pt idx="4">
                    <c:v>Porte filo muro</c:v>
                  </c:pt>
                  <c:pt idx="5">
                    <c:v>Maniglie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1237</c:v>
                </c:pt>
                <c:pt idx="1">
                  <c:v>422</c:v>
                </c:pt>
                <c:pt idx="2">
                  <c:v>397</c:v>
                </c:pt>
                <c:pt idx="3">
                  <c:v>170</c:v>
                </c:pt>
                <c:pt idx="4">
                  <c:v>214</c:v>
                </c:pt>
                <c:pt idx="5">
                  <c:v>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DG Traffico</c:v>
                  </c:pt>
                  <c:pt idx="1">
                    <c:v>Search Generic</c:v>
                  </c:pt>
                  <c:pt idx="2">
                    <c:v>Brand Prot.</c:v>
                  </c:pt>
                  <c:pt idx="3">
                    <c:v>DG Lead Gen</c:v>
                  </c:pt>
                  <c:pt idx="4">
                    <c:v>Brand Product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19737</c:v>
                </c:pt>
                <c:pt idx="1">
                  <c:v>17384</c:v>
                </c:pt>
                <c:pt idx="2">
                  <c:v>2911</c:v>
                </c:pt>
                <c:pt idx="3">
                  <c:v>2288</c:v>
                </c:pt>
                <c:pt idx="4">
                  <c:v>1911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CPC</c:v>
                </c:pt>
              </c:strCache>
            </c:strRef>
          </c:tx>
          <c:spPr>
            <a:solidFill>
              <a:srgbClr val="578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Store Locator</c:v>
                  </c:pt>
                  <c:pt idx="1">
                    <c:v>Blog Consid.</c:v>
                  </c:pt>
                  <c:pt idx="2">
                    <c:v>Lead Gen Riv.</c:v>
                  </c:pt>
                  <c:pt idx="3">
                    <c:v>Promo PED</c:v>
                  </c:pt>
                  <c:pt idx="4">
                    <c:v>FEEL5 B2B</c:v>
                  </c:pt>
                  <c:pt idx="5">
                    <c:v>Area Pro B2B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0.11</c:v>
                </c:pt>
                <c:pt idx="1">
                  <c:v>0.15</c:v>
                </c:pt>
                <c:pt idx="2">
                  <c:v>0.48</c:v>
                </c:pt>
                <c:pt idx="3">
                  <c:v>0.68</c:v>
                </c:pt>
                <c:pt idx="4">
                  <c:v>0.99</c:v>
                </c:pt>
                <c:pt idx="5">
                  <c:v>1.13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Engagement Rate %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Paid Search</c:v>
                  </c:pt>
                  <c:pt idx="1">
                    <c:v>Cross-network</c:v>
                  </c:pt>
                  <c:pt idx="2">
                    <c:v>Organic Social</c:v>
                  </c:pt>
                  <c:pt idx="3">
                    <c:v>Paid Social</c:v>
                  </c:pt>
                  <c:pt idx="4">
                    <c:v>Organic Search</c:v>
                  </c:pt>
                  <c:pt idx="5">
                    <c:v>Direct</c:v>
                  </c:pt>
                  <c:pt idx="6">
                    <c:v>Referral</c:v>
                  </c:pt>
                  <c:pt idx="7">
                    <c:v>Display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95.6</c:v>
                </c:pt>
                <c:pt idx="1">
                  <c:v>89.1</c:v>
                </c:pt>
                <c:pt idx="2">
                  <c:v>88.9</c:v>
                </c:pt>
                <c:pt idx="3">
                  <c:v>82.6</c:v>
                </c:pt>
                <c:pt idx="4">
                  <c:v>81.6</c:v>
                </c:pt>
                <c:pt idx="5">
                  <c:v>78.9</c:v>
                </c:pt>
                <c:pt idx="6">
                  <c:v>77.4</c:v>
                </c:pt>
                <c:pt idx="7">
                  <c:v>60.3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2026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Info prodotto</c:v>
                  </c:pt>
                  <c:pt idx="1">
                    <c:v>Registrazioni</c:v>
                  </c:pt>
                  <c:pt idx="2">
                    <c:v>FEEL5</c:v>
                  </c:pt>
                  <c:pt idx="3">
                    <c:v>Form contatto</c:v>
                  </c:pt>
                  <c:pt idx="4">
                    <c:v>Contatta PV</c:v>
                  </c:pt>
                  <c:pt idx="5">
                    <c:v>FEEL4</c:v>
                  </c:pt>
                  <c:pt idx="6">
                    <c:v>Newsletter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</c:v>
                </c:pt>
                <c:pt idx="1">
                  <c:v>56</c:v>
                </c:pt>
                <c:pt idx="2">
                  <c:v>54</c:v>
                </c:pt>
                <c:pt idx="3">
                  <c:v>38</c:v>
                </c:pt>
                <c:pt idx="4">
                  <c:v>25</c:v>
                </c:pt>
                <c:pt idx="5">
                  <c:v>7</c:v>
                </c:pt>
                <c:pt idx="6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 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Info prodotto</c:v>
                  </c:pt>
                  <c:pt idx="1">
                    <c:v>Registrazioni</c:v>
                  </c:pt>
                  <c:pt idx="2">
                    <c:v>FEEL5</c:v>
                  </c:pt>
                  <c:pt idx="3">
                    <c:v>Form contatto</c:v>
                  </c:pt>
                  <c:pt idx="4">
                    <c:v>Contatta PV</c:v>
                  </c:pt>
                  <c:pt idx="5">
                    <c:v>FEEL4</c:v>
                  </c:pt>
                  <c:pt idx="6">
                    <c:v>Newsletter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55</c:v>
                </c:pt>
                <c:pt idx="2">
                  <c:v>99</c:v>
                </c:pt>
                <c:pt idx="3">
                  <c:v>36</c:v>
                </c:pt>
                <c:pt idx="4">
                  <c:v>29</c:v>
                </c:pt>
                <c:pt idx="5">
                  <c:v>2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Lead per canale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781FF"/>
              </a:solidFill>
              <a:effectLst/>
            </c:spPr>
          </c:dPt>
          <c:dPt>
            <c:idx val="1"/>
            <c:bubble3D val="0"/>
            <c:spPr>
              <a:solidFill>
                <a:srgbClr val="E52217"/>
              </a:solidFill>
              <a:effectLst/>
            </c:spPr>
          </c:dPt>
          <c:dPt>
            <c:idx val="2"/>
            <c:bubble3D val="0"/>
            <c:spPr>
              <a:solidFill>
                <a:srgbClr val="118541"/>
              </a:solidFill>
              <a:effectLst/>
            </c:spPr>
          </c:dPt>
          <c:dPt>
            <c:idx val="3"/>
            <c:bubble3D val="0"/>
            <c:spPr>
              <a:solidFill>
                <a:srgbClr val="48484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Meta Ads</c:v>
                </c:pt>
                <c:pt idx="1">
                  <c:v>Google Ads</c:v>
                </c:pt>
                <c:pt idx="2">
                  <c:v>Organico</c:v>
                </c:pt>
                <c:pt idx="3">
                  <c:v>Diretto e altro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161</c:v>
                </c:pt>
                <c:pt idx="1">
                  <c:v>63</c:v>
                </c:pt>
                <c:pt idx="2">
                  <c:v>34</c:v>
                </c:pt>
                <c:pt idx="3">
                  <c:v>33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919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Sessioni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Nuovo magazine FEEL5 (landing)</c:v>
                  </c:pt>
                  <c:pt idx="1">
                    <c:v>Magazine FEEL (indice)</c:v>
                  </c:pt>
                  <c:pt idx="2">
                    <c:v>Download magazine FEEL5</c:v>
                  </c:pt>
                  <c:pt idx="3">
                    <c:v>Magazine FEEL4 (landing)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445</c:v>
                </c:pt>
                <c:pt idx="1">
                  <c:v>117</c:v>
                </c:pt>
                <c:pt idx="2">
                  <c:v>37</c:v>
                </c:pt>
                <c:pt idx="3">
                  <c:v>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E2A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Set 2026</c:v>
                  </c:pt>
                  <c:pt idx="1">
                    <c:v>Set 2025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1653</c:v>
                </c:pt>
                <c:pt idx="1">
                  <c:v>1354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9144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FERRERO</a:t>
            </a:r>
            <a:endParaRPr lang="en-US" sz="5600" dirty="0"/>
          </a:p>
          <a:p>
            <a:pPr indent="0" marL="0">
              <a:lnSpc>
                <a:spcPct val="8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LEGNO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08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7777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DESIGN TO BE OPEN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Report settembre 2026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12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13 ottobre 2026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608076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05840" y="6035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28600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Andamento e risultati</a:t>
            </a:r>
            <a:endParaRPr lang="en-US" sz="3800" dirty="0"/>
          </a:p>
          <a:p>
            <a:pPr indent="0" marL="0">
              <a:buNone/>
            </a:pPr>
            <a:r>
              <a:rPr lang="en-US" sz="3800" i="1" dirty="0">
                <a:solidFill>
                  <a:srgbClr val="888888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2026.</a:t>
            </a:r>
            <a:endParaRPr lang="en-US" sz="3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PANORAMICA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Forte crescita delle sessioni a settembre: +59% rispetto al 2025, trainata dai canali paid</a:t>
            </a:r>
            <a:endParaRPr lang="en-US" sz="2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74320" y="1554480"/>
          <a:ext cx="7772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412480" y="155448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4964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</a:t>
            </a:r>
            <a:endParaRPr lang="en-US" sz="7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1828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25.691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0241280" y="1828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+59,4%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1064240" y="19202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16.115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8412480" y="251460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49640" y="25877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UTENTI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18.350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0" y="2788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+69,7%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1064240" y="28803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10.814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8412480" y="347472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5478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VISUALIZZAZIONI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749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84.993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10241280" y="3749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+9,1%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11064240" y="38404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77.872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8412480" y="443484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549640" y="45079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ENGAGEMENT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4709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86,0%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-0,1pp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11064240" y="48006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86,1%</a:t>
            </a:r>
            <a:endParaRPr lang="en-US" sz="7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54864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traffico cresce grazie ai canali paid, che portano il 70% delle sessioni totali. Le sessioni giornaliere raggiungono picchi sopra le 1.000 dalla seconda settimana.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MIX CANALI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paid guida il 70% del traffico totale con Paid Search e Cross-network in fortissima crescita</a:t>
            </a:r>
            <a:endParaRPr lang="en-US" sz="2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74320" y="1554480"/>
          <a:ext cx="45720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5303520" y="155448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Search (+110%)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 </a:t>
            </a:r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Cross-network (+20.516%)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trainano la crescita. Cross-network raccoglie Demand Gen, PMax, YouTube e Display. L'organic cala del 4%, il direct del 4,7%.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I NUMERI CHIAVE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L'organico continua il trend di calo YoY, trainato dalla contrazione della domanda e dall'erosione AI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7373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-18%</a:t>
            </a:r>
            <a:endParaRPr lang="en-US" sz="7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ORGANICI (IT)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490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6.593 a 5.391 clic.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calo continua il trend dei mesi precedenti, legato alla contrazione della domanda e all'effetto AI Overview.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60520" y="1828800"/>
            <a:ext cx="18288" cy="3200400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97680" y="17373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+1,7%</a:t>
            </a:r>
            <a:endParaRPr lang="en-US" sz="72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7490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121.681 a 123.803 impression.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impression crescono leggermente, segno che il sito mantiene visibilità ma perde clic.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01000" y="1828800"/>
            <a:ext cx="18288" cy="3200400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38160" y="17373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</a:t>
            </a:r>
            <a:endParaRPr lang="en-US" sz="72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POSIZIONI GUADAGNATE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37490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15,9 a 11,9 posizione media.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posizionamento migliora sensibilmente, ma non basta a compensare il calo dei volumi di ricerca.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 - IT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ANALISI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Perché stiamo subendo questo calo?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02920" cy="50292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AI OVERVIEW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474720" cy="18288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mostra risposte generate dall'AI direttamente nei risultati di ricerca, riducendo i clic verso i siti web. I contenuti informativi, come quelli del magazine, sono i più colpiti. Il CTR medio scende da 5,42% a 4,35% (-1,07pp).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1645920"/>
            <a:ext cx="502920" cy="50292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976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CALO RICERCHE BRAND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97680" y="2286000"/>
            <a:ext cx="3474720" cy="18288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ricerche legate al brand "Ferrero Legno" continuano a diminuire, in linea con un trend già visibile nei mesi precedenti. Questo riduce il volume di clic organici anche sulle pagine meglio posizionate.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1645920"/>
            <a:ext cx="502920" cy="50292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1381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CONTRAZIONE DOMANDA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2286000"/>
            <a:ext cx="3474720" cy="18288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3816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settore porte e infissi di design registra una contrazione delle ricerche online a livello generale. Nonostante il miglioramento del posizionamento (+4 posizioni), il volume complessivo di ricerche è inferiore rispetto al 2025.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GSC, Google Trends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APPROFONDIMENTO GSC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ricerche brand calano fino al -53%, ma il catalogo prodotti cresce del 32%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QUERY BRAND: CONFRONTO YOY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822960"/>
                <a:gridCol w="8229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Query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Clic 2026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Clic 2025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%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legno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254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537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-52,7%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porte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241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367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-34,3%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ferrerolegno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167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-41,9%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porte interne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89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61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+45,9%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legno porte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103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+296,2%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legno listino prezzi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39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63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-38,1%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legno maniglie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31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-12,9%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30936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TOP PAGINE: VARIAZIONE CLIC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309360" y="1874520"/>
          <a:ext cx="53949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4754880"/>
            <a:ext cx="11247120" cy="1280160"/>
          </a:xfrm>
          <a:prstGeom prst="roundRect">
            <a:avLst>
              <a:gd name="adj" fmla="val 5714"/>
            </a:avLst>
          </a:prstGeom>
          <a:solidFill>
            <a:srgbClr val="F4F5F6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4846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GSC aggregato: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6.738 clic (-13,3%) | 220.993 impression (+12,1%) | CTR 3,05% (-0,89pp) | Pos. media 10,3 (vs 14,3: +4 posizioni)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5212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calo delle ricerche brand (-53% su "ferrero legno")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 compensato dalla crescita del catalogo: "tutte le porte" segna +32%, trainata dal paid. "Ferrero legno porte" e "ferrero porte interne" crescono grazie al posizionamento organico migliorato. Le impression globali crescono (+12%) nonostante il calo dei clic: il sito e piu visibile, ma l'AI Overview erode i clic.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Search Console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CORRELAZIONE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ricerche brand crollano fino al -53%, il traffico diretto segue a -4,7%: segnale di erosione della notorieta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CALO RICERCHE BRAND (GSC)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03911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"ferrero legno"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-52,7%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774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537 a 254 clic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0449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"ferrero porte"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3017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-34,3%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383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367 a 241 clic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0507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"ferrerolegno"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4023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-41,9%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3891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167 a 97 clic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IMPATTO SUL TRAFFICO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196596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0" y="20116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DIRETTO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0" y="19842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-4,7%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228600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1.914 vs 2.009 sessioni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Chi conosce il brand e naviga direttamente cala, in linea con la minore notorieta.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217920" y="297180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0" y="3017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ORGANIC SEARCH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2990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-4,0%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329184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4.271 vs 4.448 sessioni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0" y="3474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calo e contenuto grazie al miglioramento del posizionamento (+4 pos.), che compensa la domanda inferiore.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17920" y="397764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0" y="4023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 GSC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0" y="39959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+12,1%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0" y="429768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220.993 vs 197.214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0" y="4480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sito e piu visibile, ma l'AI Overview intercetta i clic prima che arrivino al sito.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5120640"/>
            <a:ext cx="11247120" cy="1005840"/>
          </a:xfrm>
          <a:prstGeom prst="roundRect">
            <a:avLst>
              <a:gd name="adj" fmla="val 7273"/>
            </a:avLst>
          </a:prstGeom>
          <a:solidFill>
            <a:srgbClr val="FFF0E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" y="51663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correlazione e chiara: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meno ricerche brand (-40/53%) significano meno clic organici e meno visite dirette. Tuttavia, il miglioramento del posizionamento e la crescita delle impression (+12,1%) suggeriscono che il sito sta guadagnando visibilita su query non-brand, compensando parzialmente il calo. L'investimento paid diventa sempre piu strategico per mantenere il flusso di traffico.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GSC,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FOCUS ADVERTISING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quadruplica i clic (+465%), Meta mantiene i volumi con CPC stabile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600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F4F5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3317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514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44.231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+465%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9900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172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465.037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31729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+552%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6484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8313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5.193 €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38313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+102%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3068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4897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0,12 €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383280" y="44897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-64%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9651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TRAFFICO PAID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1480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57,6%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5781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0" y="1600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21488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F4F5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46520" y="23317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2514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12.970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-6,7%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46520" y="29900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3172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663.579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144000" y="31729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-8,0%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446520" y="36484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38313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3.826 €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9144000" y="38313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+10,6%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446520" y="43068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44897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0,30 €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44000" y="44897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+18,5%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446520" y="49651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TRAFFICO PAID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446520" y="51480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42,4%</a:t>
            </a:r>
            <a:endParaRPr lang="en-US" sz="2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totale settembre 2026: 9.019 € (Google 57,6% + Meta 42,4%)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Ads, Meta Ads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 | DETTAGLIO CAMPAGNE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 e Search Generic sono i principali driver di crescita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371600"/>
                <a:gridCol w="1097280"/>
                <a:gridCol w="1371600"/>
                <a:gridCol w="10972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Campagna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Clic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Impression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CTR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Costo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CPC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Generic (Consid.)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17.384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92.951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18,7%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2.827 €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DG Consideration Traffico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19.737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295.383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1.251 €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DG Conversion Lead Gen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2.288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64.777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636 €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0,28 €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Brand Product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1.911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5.122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37,3%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240 €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Brand Protection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2.911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6.804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42,8%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44.231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465.037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5.193 €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114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DISTRIBUZIONE CLIC PER CAMPAGNA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4343400"/>
          <a:ext cx="685800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6"/>
          <p:cNvSpPr/>
          <p:nvPr/>
        </p:nvSpPr>
        <p:spPr>
          <a:xfrm>
            <a:off x="7772400" y="4114800"/>
            <a:ext cx="3931920" cy="1920240"/>
          </a:xfrm>
          <a:prstGeom prst="roundRect">
            <a:avLst>
              <a:gd name="adj" fmla="val 3810"/>
            </a:avLst>
          </a:prstGeom>
          <a:solidFill>
            <a:srgbClr val="F4F5F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95528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YOY HIGHLIGHTS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7955280" y="452628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+465%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+102% (da 2.573 a 5.193 €)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-64% (da 0,33 a 0,12 €)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i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 non era attivo nel 2025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 | DETTAGLIO CAMPAGNE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e Lead Gen rivenditori concentrano la maggior parte dell'investimento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097280"/>
                <a:gridCol w="1097280"/>
                <a:gridCol w="13716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Campagna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Link clic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CTR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CPC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Spesa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Lead Gen Rivenditori DEF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2.308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1,92%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0,48 €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1.108 €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Blog Consideration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7.059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2,26%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0,15 €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1.061 €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FEEL5 B2B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575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0,92%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0,99 €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572 €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Iscrizioni Area Pro B2B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491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0,87%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1,13 €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Promo PED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429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0,68 €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Store Locator B2C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2.108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2,01%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237 €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12.970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1,01%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0,30 €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3.826 €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233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PER CAMPAGNA (€)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4251960"/>
          <a:ext cx="68580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6"/>
          <p:cNvSpPr/>
          <p:nvPr/>
        </p:nvSpPr>
        <p:spPr>
          <a:xfrm>
            <a:off x="7772400" y="4023360"/>
            <a:ext cx="3931920" cy="201168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95528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INSIGHT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7955280" y="443484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CPC: spread 10x tra le campagne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Store Locator (0,11 €) e Blog (0,15 €) sono i piu efficienti per clic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 e B2B hanno CPC piu alti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 portano conversioni dirette (lead, registrazioni)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Meta Ads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| QUALITA PER CANALE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Search domina per engagement (95,6%), Organic Search per profondita di navigazione (4,8 pagine)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08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ENGAGEMENT RATE PER CANALE (%)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182880" y="1737360"/>
          <a:ext cx="6217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675120" y="15087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DETTAGLIO METRICHE DI QUALITA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783080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822960"/>
                <a:gridCol w="10972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Canale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Sessioni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Pag/sess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Durata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Paid Search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8.129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4,73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12m 09s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Paid Social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5.933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1,62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4m 09s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Organic Search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4.271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4,80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31m 39s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Cross-network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3.917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1,33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1m 57s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Direct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1.914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3,66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1h 48m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Referral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239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3,97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34m 19s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Organic Social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234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2,59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18m 37s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Display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116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1,28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1m 24s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5303520"/>
            <a:ext cx="11247120" cy="822960"/>
          </a:xfrm>
          <a:prstGeom prst="roundRect">
            <a:avLst>
              <a:gd name="adj" fmla="val 8889"/>
            </a:avLst>
          </a:prstGeom>
          <a:solidFill>
            <a:srgbClr val="FFF0EF"/>
          </a:solidFill>
          <a:ln/>
        </p:spPr>
      </p:sp>
      <p:sp>
        <p:nvSpPr>
          <p:cNvPr id="12" name="Shape 8"/>
          <p:cNvSpPr/>
          <p:nvPr/>
        </p:nvSpPr>
        <p:spPr>
          <a:xfrm>
            <a:off x="457200" y="5303520"/>
            <a:ext cx="54864" cy="82296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31520" y="53492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Search porta il miglior engagement (95,6%) con 4,73 pagine per sessione. 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Organic Search eccelle in profondita (4,80 pag.) e durata (31 min).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Social ha volumi elevati (5.933 sessioni) ma engagement e profondita inferiori, segnalando traffico orientato all'atterraggio sulla landing page.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ADVERTISING | EFFICIENZA CROSS-PLATFORM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genera lead a 23,8 € (3,5x piu economico), Google porta traffico con engagement del 95,6%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08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COSTO PER LEAD (GA4 ATTRIBUTION)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303520" cy="1645920"/>
          </a:xfrm>
          <a:prstGeom prst="roundRect">
            <a:avLst>
              <a:gd name="adj" fmla="val 4444"/>
            </a:avLst>
          </a:prstGeom>
          <a:solidFill>
            <a:srgbClr val="F4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828800"/>
            <a:ext cx="54864" cy="1645920"/>
          </a:xfrm>
          <a:prstGeom prst="rect">
            <a:avLst/>
          </a:prstGeom>
          <a:solidFill>
            <a:srgbClr val="5781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1920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23,8 €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743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COSTO PER LEAD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1965960"/>
            <a:ext cx="1005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21488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161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1965960"/>
            <a:ext cx="1005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SPESA</a:t>
            </a:r>
            <a:endParaRPr lang="en-US" sz="7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21488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3.826 €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1965960"/>
            <a:ext cx="1005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% LEAD TOT.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21488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55,3%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2971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Best performer per costo: Blog Consideration (CPC 0,15 €) e Store Locator (CPC 0,11 €) abbassano il CPL medio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657600"/>
            <a:ext cx="5303520" cy="1645920"/>
          </a:xfrm>
          <a:prstGeom prst="roundRect">
            <a:avLst>
              <a:gd name="adj" fmla="val 4444"/>
            </a:avLst>
          </a:prstGeom>
          <a:solidFill>
            <a:srgbClr val="F4F5F6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3657600"/>
            <a:ext cx="54864" cy="164592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37490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023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82,4 €</a:t>
            </a:r>
            <a:endParaRPr lang="en-US" sz="3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5720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COSTO PER LEAD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108960" y="3794760"/>
            <a:ext cx="1005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3108960" y="3977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63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114800" y="3794760"/>
            <a:ext cx="1005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SPESA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3977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5.193 €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3794760"/>
            <a:ext cx="1005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% LEAD TOT.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3977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21,6%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31520" y="4800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CPL piu alto ma traffico di qualita superiore: Demand Gen ha il CPC piu basso (0,06 €) e genera volumi elevati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1508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QUALITA DEL TRAFFICO A CONFRONTO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217920" y="18288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ENGAGEMENT RATE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217920" y="205740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FE7E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9360" y="207568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6309360" y="22128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95,6%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9144000" y="205740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F4F5F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235440" y="207568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9235440" y="22128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82,6%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6217920" y="26974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PAGINE / SESSIONE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217920" y="292608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FE7E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09360" y="294436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</a:t>
            </a:r>
            <a:endParaRPr lang="en-US" sz="700" dirty="0"/>
          </a:p>
        </p:txBody>
      </p:sp>
      <p:sp>
        <p:nvSpPr>
          <p:cNvPr id="43" name="Text 41"/>
          <p:cNvSpPr txBox="1"/>
          <p:nvPr/>
        </p:nvSpPr>
        <p:spPr>
          <a:xfrm>
            <a:off x="6309360" y="30815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4,73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9144000" y="292608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F4F5F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235440" y="294436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</a:t>
            </a:r>
            <a:endParaRPr lang="en-US" sz="700" dirty="0"/>
          </a:p>
        </p:txBody>
      </p:sp>
      <p:sp>
        <p:nvSpPr>
          <p:cNvPr id="46" name="Text 44"/>
          <p:cNvSpPr txBox="1"/>
          <p:nvPr/>
        </p:nvSpPr>
        <p:spPr>
          <a:xfrm>
            <a:off x="9235440" y="3081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1,62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6217920" y="35661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DURATA MEDIA SESSIONE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217920" y="379476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FE7E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09360" y="381304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</a:t>
            </a:r>
            <a:endParaRPr lang="en-US" sz="700" dirty="0"/>
          </a:p>
        </p:txBody>
      </p:sp>
      <p:sp>
        <p:nvSpPr>
          <p:cNvPr id="50" name="Text 48"/>
          <p:cNvSpPr txBox="1"/>
          <p:nvPr/>
        </p:nvSpPr>
        <p:spPr>
          <a:xfrm>
            <a:off x="6309360" y="39502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12m 09s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9144000" y="379476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F4F5F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9235440" y="381304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</a:t>
            </a:r>
            <a:endParaRPr lang="en-US" sz="700" dirty="0"/>
          </a:p>
        </p:txBody>
      </p:sp>
      <p:sp>
        <p:nvSpPr>
          <p:cNvPr id="53" name="Text 51"/>
          <p:cNvSpPr txBox="1"/>
          <p:nvPr/>
        </p:nvSpPr>
        <p:spPr>
          <a:xfrm>
            <a:off x="9235440" y="3950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4m 09s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6217920" y="44348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TOTALI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217920" y="466344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FE7E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309360" y="468172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</a:t>
            </a:r>
            <a:endParaRPr lang="en-US" sz="700" dirty="0"/>
          </a:p>
        </p:txBody>
      </p:sp>
      <p:sp>
        <p:nvSpPr>
          <p:cNvPr id="57" name="Text 55"/>
          <p:cNvSpPr txBox="1"/>
          <p:nvPr/>
        </p:nvSpPr>
        <p:spPr>
          <a:xfrm>
            <a:off x="6309360" y="48188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44.231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9144000" y="466344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F4F5F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235440" y="468172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9235440" y="4818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12.970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6217920" y="53035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COSTO PER LEAD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6217920" y="553212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4F5F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309360" y="555040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</a:t>
            </a:r>
            <a:endParaRPr lang="en-US" sz="700" dirty="0"/>
          </a:p>
        </p:txBody>
      </p:sp>
      <p:sp>
        <p:nvSpPr>
          <p:cNvPr id="64" name="Text 62"/>
          <p:cNvSpPr txBox="1"/>
          <p:nvPr/>
        </p:nvSpPr>
        <p:spPr>
          <a:xfrm>
            <a:off x="6309360" y="56875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82,4 €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9144000" y="553212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E6EE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235440" y="555040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</a:t>
            </a:r>
            <a:endParaRPr lang="en-US" sz="700" dirty="0"/>
          </a:p>
        </p:txBody>
      </p:sp>
      <p:sp>
        <p:nvSpPr>
          <p:cNvPr id="67" name="Text 65"/>
          <p:cNvSpPr txBox="1"/>
          <p:nvPr/>
        </p:nvSpPr>
        <p:spPr>
          <a:xfrm>
            <a:off x="9235440" y="5687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23,8 €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FFF0EF"/>
          </a:solidFill>
          <a:ln/>
        </p:spPr>
      </p:sp>
      <p:sp>
        <p:nvSpPr>
          <p:cNvPr id="69" name="Shape 67"/>
          <p:cNvSpPr/>
          <p:nvPr/>
        </p:nvSpPr>
        <p:spPr>
          <a:xfrm>
            <a:off x="457200" y="5532120"/>
            <a:ext cx="54864" cy="64008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e Google svolgono ruoli complementari: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e 3,5x piu efficiente per lead generation (55% delle lead a costo inferiore), mentre Google Ads porta utenti con il 95,6% di engagement e quasi 5 pagine per sessione, alimentando tutto il funnel.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GA4, Google Ads, Meta Ads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28600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</a:t>
            </a:r>
            <a:endParaRPr lang="en-US" sz="3800" dirty="0"/>
          </a:p>
          <a:p>
            <a:pPr indent="0" marL="0">
              <a:buNone/>
            </a:pPr>
            <a:r>
              <a:rPr lang="en-US" sz="3800" i="1" dirty="0">
                <a:solidFill>
                  <a:srgbClr val="888888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2026.</a:t>
            </a:r>
            <a:endParaRPr lang="en-US" sz="3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PANORAMICA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459 lead totali: la landing rivenditori porta 215 preventivi, compensando il calo tradizionale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645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TOTALI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459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377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97680" y="155448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4F5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80560" y="1645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PREVENTIVI LP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215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377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nuovo canale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38160" y="155448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4F5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1645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TRADIZIONALI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244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377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-24,5% vs 2025</a:t>
            </a:r>
            <a:endParaRPr lang="en-US" sz="9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2926080"/>
          <a:ext cx="11247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HubSpot, MyArea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ATTRIBUZIONE PER CANALE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genera il 55% delle lead tracciate con un costo per lead inferiore del 60% rispetto a Google</a:t>
            </a:r>
            <a:endParaRPr lang="en-US" sz="2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0" y="1554480"/>
          <a:ext cx="5029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554480"/>
          <a:ext cx="66751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731520"/>
                <a:gridCol w="822960"/>
                <a:gridCol w="822960"/>
                <a:gridCol w="914400"/>
                <a:gridCol w="822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Canale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Lead 2026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% totale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Lead 2025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lead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Costo 2026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costo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Meta Ads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161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+117,6%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3.826 €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+10,6%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Google Ads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21,6%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+31,3%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5.193 €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+101,7%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Organico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11,7%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-34,6%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Diretto e altro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11,3%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+22,2%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201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+44,8%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9.019 €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+48,3%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53949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0EF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40080" y="5440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Ads: CPL 23,8 € (161 lead con 3.826 €)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</a:t>
            </a:r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Ads: CPL 82,4 € (63 lead con 5.193 €).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porta il 55% delle lead con il 42% del budget, confermandosi il canale paid piu efficiente per la generazione di contatti.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(lead event), Google Ads, Meta Ads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DETTAGLIO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Dettaglio completo per tipologia di lead e fonte dati</a:t>
            </a:r>
            <a:endParaRPr lang="en-US" sz="2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Tipologia lead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Fonte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2025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Preventivo LP (landing rivenditori)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215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nuovo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Info prodotto (totale)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 + MyArea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100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-39,0%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Registrazioni 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-45,5%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Form contatto (IT/EN/ES/FR)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+5,6%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Contatta PV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MyArea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-13,8%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+250,0%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Newsletter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+50,0%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(escl. Preventivo LP)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323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-24,5%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(incl. Preventivo LP)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459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5486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nuova landing rivenditori (Preventivo LP)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è il dato più significativo del mese: 215 preventivi da un canale completamente nuovo. Tra le lead tradizionali, il calo di FEEL5 (-45,5%) e info prodotto (-39%) è parzialmente compensato dalla stabilità delle registrazioni area (+1,8%) e dei form contatto (+5,6%).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HubSpot, MyArea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FOCUS RIVENDITORI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215 preventivi dalla landing rivenditori: Meta porta 120 lead, Google 26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394960" cy="4297680"/>
          </a:xfrm>
          <a:prstGeom prst="roundRect">
            <a:avLst>
              <a:gd name="adj" fmla="val 2128"/>
            </a:avLst>
          </a:prstGeom>
          <a:solidFill>
            <a:srgbClr val="F4F5F6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554480"/>
            <a:ext cx="5394960" cy="73152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Google Ads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574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DG Conversion Lead Gen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560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542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64.777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0632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3044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2.288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66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3547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636 €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690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0,28 €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4572000"/>
            <a:ext cx="4846320" cy="822960"/>
          </a:xfrm>
          <a:prstGeom prst="roundRect">
            <a:avLst>
              <a:gd name="adj" fmla="val 8889"/>
            </a:avLst>
          </a:prstGeom>
          <a:solidFill>
            <a:srgbClr val="FFF0E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572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~26 </a:t>
            </a:r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attribuite (GA4)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983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Search 9 + Cross-network 17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217920" y="1554480"/>
            <a:ext cx="5394960" cy="4297680"/>
          </a:xfrm>
          <a:prstGeom prst="roundRect">
            <a:avLst>
              <a:gd name="adj" fmla="val 2128"/>
            </a:avLst>
          </a:prstGeom>
          <a:solidFill>
            <a:srgbClr val="F4F5F6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0" y="1554480"/>
            <a:ext cx="5394960" cy="73152"/>
          </a:xfrm>
          <a:prstGeom prst="rect">
            <a:avLst/>
          </a:prstGeom>
          <a:solidFill>
            <a:srgbClr val="5781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9224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Meta Ads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20574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 Rivenditori DEF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2560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2542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36.082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0632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3044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2.308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566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3547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1.108 €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40690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1,92%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92240" y="4572000"/>
            <a:ext cx="4846320" cy="822960"/>
          </a:xfrm>
          <a:prstGeom prst="roundRect">
            <a:avLst>
              <a:gd name="adj" fmla="val 8889"/>
            </a:avLst>
          </a:prstGeom>
          <a:solidFill>
            <a:srgbClr val="FFF0E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675120" y="4572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120 </a:t>
            </a:r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attribuite (GA4)</a:t>
            </a:r>
            <a:endParaRPr lang="en-US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6675120" y="4983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Social, submit_contact_form_lp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totale HubSpot (215 preventivi) supera le lead tracciate in GA4 perche include compilazioni da utenti di ritorno, organico e diretto non sempre attribuibili ai canali paid.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GA4, HubSpot, Google Ads, Meta Ads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56032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Focus Magazine.</a:t>
            </a:r>
            <a:endParaRPr lang="en-US" sz="3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MAGAZINE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magazine guadagna 10 posizioni ma perde clic per effetto AI Overview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-21%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92 vs 117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9184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7472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-17%</a:t>
            </a:r>
            <a:endParaRPr lang="en-US" sz="42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8.267 vs 9.969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2648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1,11%</a:t>
            </a:r>
            <a:endParaRPr lang="en-US" sz="4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 MEDIO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1,17%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96112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8,7</a:t>
            </a:r>
            <a:endParaRPr lang="en-US" sz="4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POSIZIONE MEDIA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19,4 (+10,7 pos.)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5720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posizione media migliora da 19,4 a 8,7 (+10,7 posizioni):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risultato molto significativo. Tuttavia i clic diminuiscono del 21% per la contrazione delle impression (-17%). L'erosione del CTR da AI Overview continua a incidere particolarmente sui contenuti informativi del magazine.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0E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54406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Download magazine FEEL: 35 (set 2026) vs 69 (set 2025) = -49%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GSC,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PAID | MAGAZINE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campagna Blog Consideration porta 7.059 clic al magazine con CPC molto efficiente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691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CONSIDERATION (META ADS)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7.059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136.533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2,26%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0,15 €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1.061 €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657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ALLE PAGINE MAGAZINE (GA4)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57200" y="3931920"/>
          <a:ext cx="112471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Meta Ads, GA4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SOCIAL | PROMO PED E CANALI ORGANICI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Promo PED raggiunge 469K utenti unici con 292 €, i social organici portano 234 sessioni al sito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669280" cy="4389120"/>
          </a:xfrm>
          <a:prstGeom prst="roundRect">
            <a:avLst>
              <a:gd name="adj" fmla="val 2083"/>
            </a:avLst>
          </a:prstGeom>
          <a:solidFill>
            <a:srgbClr val="F4F5F6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554480"/>
            <a:ext cx="54864" cy="4389120"/>
          </a:xfrm>
          <a:prstGeom prst="rect">
            <a:avLst/>
          </a:prstGeom>
          <a:solidFill>
            <a:srgbClr val="5781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1691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PROMO PED (META ADS, AWARENESS)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11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always-on di brand awareness su Facebook e Instagram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6888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631.044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089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+5,4% YoY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246888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2560320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468.525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31089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+5,9% YoY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246888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FREQUENZA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1,35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31089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stabile YoY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74904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429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3891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+18,8% YoY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2560320" y="374904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0,07%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2560320" y="43891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+12,7% YoY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389120" y="374904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0,68 €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43891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-4,8% YoY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31520" y="5074920"/>
            <a:ext cx="5029200" cy="274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52120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INVESTIMENTO: 292 € (+13,2% YoY) | 6 creative aggiornate nel mese (album, video, carousel, immagine)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731520" y="55321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CPM di 0,46 €: tra le campagne piu efficienti per copertura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0" y="1508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SOCIAL ORGANICO AL SITO (GA4)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8308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Canale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2026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2025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%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Facebook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177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351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-49,6%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Instagram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+400%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Pinterest (org.)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13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32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-59,4%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YouTube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nuovo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Altro (bit.ly, houzz)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34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22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+54,5%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Organic Social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234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410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-42,9%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34" name="Text 31"/>
          <p:cNvSpPr txBox="1"/>
          <p:nvPr/>
        </p:nvSpPr>
        <p:spPr>
          <a:xfrm>
            <a:off x="6400800" y="4160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FOCUS: INSTAGRAM E YOUTUBE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400800" y="4434840"/>
            <a:ext cx="2560320" cy="1463040"/>
          </a:xfrm>
          <a:prstGeom prst="roundRect">
            <a:avLst>
              <a:gd name="adj" fmla="val 3750"/>
            </a:avLst>
          </a:prstGeom>
          <a:solidFill>
            <a:srgbClr val="FCE4E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537960" y="45262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E2A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INSTAGRAM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6537960" y="4754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10</a:t>
            </a:r>
            <a:endParaRPr lang="en-US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6537960" y="51663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al sito</a:t>
            </a:r>
            <a:endParaRPr lang="en-US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6537960" y="5394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100% engagement, 5,67 pag/sess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Canale di awareness, non di traffico diretto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>
            <a:off x="9144000" y="4434840"/>
            <a:ext cx="2560320" cy="1463040"/>
          </a:xfrm>
          <a:prstGeom prst="roundRect">
            <a:avLst>
              <a:gd name="adj" fmla="val 3750"/>
            </a:avLst>
          </a:prstGeom>
          <a:solidFill>
            <a:srgbClr val="FFEBEE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281160" y="45262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YOUTUBE</a:t>
            </a:r>
            <a:endParaRPr lang="en-US" sz="800" dirty="0"/>
          </a:p>
        </p:txBody>
      </p:sp>
      <p:sp>
        <p:nvSpPr>
          <p:cNvPr id="42" name="Text 39"/>
          <p:cNvSpPr txBox="1"/>
          <p:nvPr/>
        </p:nvSpPr>
        <p:spPr>
          <a:xfrm>
            <a:off x="9281160" y="4754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</a:t>
            </a:r>
            <a:endParaRPr lang="en-US" sz="3000" dirty="0"/>
          </a:p>
        </p:txBody>
      </p:sp>
      <p:sp>
        <p:nvSpPr>
          <p:cNvPr id="43" name="Text 40"/>
          <p:cNvSpPr txBox="1"/>
          <p:nvPr/>
        </p:nvSpPr>
        <p:spPr>
          <a:xfrm>
            <a:off x="9281160" y="51663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al sito</a:t>
            </a:r>
            <a:endParaRPr lang="en-US" sz="800" dirty="0"/>
          </a:p>
        </p:txBody>
      </p:sp>
      <p:sp>
        <p:nvSpPr>
          <p:cNvPr id="44" name="Text 41"/>
          <p:cNvSpPr txBox="1"/>
          <p:nvPr/>
        </p:nvSpPr>
        <p:spPr>
          <a:xfrm>
            <a:off x="9281160" y="5394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Canale emergente, 100% eng.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 pag/sessione, durata 2h 21m</a:t>
            </a:r>
            <a:endParaRPr lang="en-US" sz="7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Meta Ads,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| ANALISI APPROFONDITA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cresce del 22% in sessioni, ma l'engagement scende di 15 punti: serve ottimizzare la qualita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459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+22,1%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14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CRESCITA SESSIONI YOY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274320" y="2926080"/>
          <a:ext cx="384048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METRICHE DI QUALITA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572000" y="1828800"/>
            <a:ext cx="7132320" cy="868680"/>
          </a:xfrm>
          <a:prstGeom prst="roundRect">
            <a:avLst>
              <a:gd name="adj" fmla="val 6316"/>
            </a:avLst>
          </a:prstGeom>
          <a:solidFill>
            <a:srgbClr val="F4F5F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754880" y="18745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ENGAGEMENT RATE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21031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67,6%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2025: 82,5%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-14,9 pp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572000" y="2880360"/>
            <a:ext cx="7132320" cy="868680"/>
          </a:xfrm>
          <a:prstGeom prst="roundRect">
            <a:avLst>
              <a:gd name="adj" fmla="val 6316"/>
            </a:avLst>
          </a:prstGeom>
          <a:solidFill>
            <a:srgbClr val="F4F5F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754880" y="29260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PAGINE / SESSIONE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475488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1,52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2025: 1,71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0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-11,1%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572000" y="3931920"/>
            <a:ext cx="7132320" cy="868680"/>
          </a:xfrm>
          <a:prstGeom prst="roundRect">
            <a:avLst>
              <a:gd name="adj" fmla="val 6316"/>
            </a:avLst>
          </a:prstGeom>
          <a:solidFill>
            <a:srgbClr val="F4F5F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754880" y="3977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DURATA MEDIA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4754880" y="4206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3m 19s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0" y="4251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2025: 1m 47s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9601200" y="4160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+85,6%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4572000" y="4983480"/>
            <a:ext cx="7132320" cy="868680"/>
          </a:xfrm>
          <a:prstGeom prst="roundRect">
            <a:avLst>
              <a:gd name="adj" fmla="val 6316"/>
            </a:avLst>
          </a:prstGeom>
          <a:solidFill>
            <a:srgbClr val="F4F5F6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50292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TOTALI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754880" y="52578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1.653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6858000" y="5303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2025: 1.354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60120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+22,1%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572000" y="55321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CONFRONTO CON ALTRI CANALI (ENGAGEMENT RATE)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4572000" y="5760720"/>
            <a:ext cx="1737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Search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0" y="5897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95,6%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83680" y="5760720"/>
            <a:ext cx="1737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Organic Search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6583680" y="5897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81,6%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8503920" y="5760720"/>
            <a:ext cx="1737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Social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8503920" y="5897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82,6%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0332720" y="5760720"/>
            <a:ext cx="1737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</a:t>
            </a:r>
            <a:endParaRPr lang="en-US" sz="700" dirty="0"/>
          </a:p>
        </p:txBody>
      </p:sp>
      <p:sp>
        <p:nvSpPr>
          <p:cNvPr id="39" name="Text 36"/>
          <p:cNvSpPr txBox="1"/>
          <p:nvPr/>
        </p:nvSpPr>
        <p:spPr>
          <a:xfrm>
            <a:off x="10332720" y="5897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67,6%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57200" y="5029200"/>
            <a:ext cx="3840480" cy="1188720"/>
          </a:xfrm>
          <a:prstGeom prst="roundRect">
            <a:avLst>
              <a:gd name="adj" fmla="val 6154"/>
            </a:avLst>
          </a:prstGeom>
          <a:solidFill>
            <a:srgbClr val="FFF0EF"/>
          </a:solidFill>
          <a:ln/>
        </p:spPr>
      </p:sp>
      <p:sp>
        <p:nvSpPr>
          <p:cNvPr id="41" name="Shape 38"/>
          <p:cNvSpPr/>
          <p:nvPr/>
        </p:nvSpPr>
        <p:spPr>
          <a:xfrm>
            <a:off x="457200" y="5029200"/>
            <a:ext cx="54864" cy="118872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85800" y="51206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 volumi crescono ma la qualita cala. 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99% del traffico Pinterest (1.639 su 1.653) arriva da distribuzione paid. L'engagement in calo (-15 pp) e la bassa profondita (1,52 pag.) suggeriscono di rivedere targeting e creativita.</a:t>
            </a:r>
            <a:endParaRPr lang="en-US" sz="10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 chiusura.</a:t>
            </a:r>
            <a:endParaRPr lang="en-US" sz="3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RIEPILOGO | ADVERTISING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 risultati chiave dell'advertising a settembre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 quadruplica i clic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7830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+465% clic (44.231 vs 7.834), con un CPC in calo del 64% grazie all'efficienza delle campagne Demand Gen. Investimento: 5.193 € (+102%).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14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688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Gen, il nuovo protagonista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889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campagne Demand Gen (assenti nel 2025) portano oltre 22.000 clic con CPC medio di 0,06 €, il canale paid più efficiente in assoluto.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474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 mantiene i volumi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7947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Consideration è il best performer: 7.059 clic con CPC di 0,15 €. Lead Gen Rivenditori porta 2.308 clic con CTR dell'1,92%.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4526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4480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Landing rivenditori: 215 preventivi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8006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nuovo canale genera 215 preventivi tra Google Ads (DG Conversion, 636 €) e Meta Ads (Lead Gen Riv., 1.108 €).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553212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5486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totale: 9.019 €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806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57,6% (5.193 €) + Meta 42,4% (3.826 €). Il paid porta il 70% del traffico totale al sito.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RIEPILOGO | SEO E ORGANICO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 risultati chiave del canale organico a settembre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organici in calo, posizionamento in crescita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7830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-18% clic in Italia (5.391 vs 6.593), ma la posizione media migliora da 15,9 a 11,9 (+4 posizioni). Le impression crescono dell'1,7%.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14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688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AI Overview è il principale driver del calo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889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risposte generate dall'AI nei risultati di ricerca Google erodono il CTR dei siti web, in particolare sui contenuti informativi.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474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Magazine: +10 posizioni guadagnate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7947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posizione media del magazine migliora da 19,4 a 8,7 (+10,7 posizioni), un risultato molto significativo nonostante il calo dei clic (-21%).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4526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4480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cresce del 22%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8006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1.653 sessioni da Pinterest (+22,1%), confermando il valore della presenza organica su una piattaforma allineata al target di design.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553212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5486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tradizionali in calo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806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244 lead tradizionali (-24,5%), in particolare FEEL5 (-45,5%) e info prodotto (-39%). Stabili registrazioni area (+1,8%) e form contatto (+5,6%).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errero Legno Report">
  <a:themeElements>
    <a:clrScheme name="Ferrero Legno Report">
      <a:dk1>
        <a:srgbClr val="191919"/>
      </a:dk1>
      <a:lt1>
        <a:srgbClr val="FFFFFF"/>
      </a:lt1>
      <a:dk2>
        <a:srgbClr val="595959"/>
      </a:dk2>
      <a:lt2>
        <a:srgbClr val="F4F5F6"/>
      </a:lt2>
      <a:accent1>
        <a:srgbClr val="E52217"/>
      </a:accent1>
      <a:accent2>
        <a:srgbClr val="118541"/>
      </a:accent2>
      <a:accent3>
        <a:srgbClr val="5781FF"/>
      </a:accent3>
      <a:accent4>
        <a:srgbClr val="551FC4"/>
      </a:accent4>
      <a:accent5>
        <a:srgbClr val="CE2A59"/>
      </a:accent5>
      <a:accent6>
        <a:srgbClr val="DB5E29"/>
      </a:accent6>
      <a:hlink>
        <a:srgbClr val="E52217"/>
      </a:hlink>
      <a:folHlink>
        <a:srgbClr val="CE2A59"/>
      </a:folHlink>
    </a:clrScheme>
    <a:fontScheme name="Ferrero Legno Report">
      <a:majorFont>
        <a:latin typeface="Figtre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igtre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moca interactive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Ferrero Legno - Report Settembre 2026</dc:title>
  <dc:subject>Report mensile settembre 2026</dc:subject>
  <dc:creator>moca interactive</dc:creator>
  <cp:lastModifiedBy>moca interactive</cp:lastModifiedBy>
  <cp:revision>1</cp:revision>
  <dcterms:created xsi:type="dcterms:W3CDTF">2026-10-13T13:45:12Z</dcterms:created>
  <dcterms:modified xsi:type="dcterms:W3CDTF">2026-10-13T13:45:12Z</dcterms:modified>
</cp:coreProperties>
</file>