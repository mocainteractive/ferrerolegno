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7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8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9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cc6fe474-858a-b494-4ab4-e602112f4523}">
          <p14:sldIdLst>
            <p14:sldId id="256"/>
          </p14:sldIdLst>
        </p14:section>
        <p14:section name="Andamento e risultati" id="{59a88baa-b0c3-84df-353c-76c23ecc047e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Lead Generation" id="{8dd78f73-3c91-b69d-9188-8b6fb9c58df7}">
          <p14:sldIdLst>
            <p14:sldId id="266"/>
            <p14:sldId id="267"/>
            <p14:sldId id="268"/>
            <p14:sldId id="269"/>
          </p14:sldIdLst>
        </p14:section>
        <p14:section name="Focus Magazine" id="{fa4da11e-bbf2-ba84-c29e-11a8bfab9df0}">
          <p14:sldIdLst>
            <p14:sldId id="270"/>
            <p14:sldId id="271"/>
            <p14:sldId id="272"/>
            <p14:sldId id="273"/>
          </p14:sldIdLst>
        </p14:section>
        <p14:section name="In chiusura" id="{656c5858-533b-3f6a-a69d-f9df6a26e2c8}">
          <p14:sldIdLst>
            <p14:sldId id="274"/>
            <p14:sldId id="275"/>
            <p14:sldId id="276"/>
            <p14:sldId id="277"/>
          </p14:sldIdLst>
        </p14:section>
        <p14:section name="Contatti" id="{09b40c42-4f32-6469-47e0-dcaa00a11fe7}">
          <p14:sldIdLst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Settembre 2026</c:v>
                </c:pt>
              </c:strCache>
            </c:strRef>
          </c:tx>
          <c:spPr>
            <a:solidFill>
              <a:srgbClr val="E52217"/>
            </a:solidFill>
            <a:ln w="31750" cap="flat">
              <a:solidFill>
                <a:srgbClr val="E5221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52217"/>
              </a:solidFill>
              <a:ln w="9525" cap="flat">
                <a:solidFill>
                  <a:srgbClr val="E5221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Sheet1!$A$2:$A$31</c:f>
              <c:multiLvlStrCache>
                <c:ptCount val="3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</c:lvl>
              </c:multiLvlStrCache>
            </c:multiLvl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584</c:v>
                </c:pt>
                <c:pt idx="1">
                  <c:v>702</c:v>
                </c:pt>
                <c:pt idx="2">
                  <c:v>633</c:v>
                </c:pt>
                <c:pt idx="3">
                  <c:v>656</c:v>
                </c:pt>
                <c:pt idx="4">
                  <c:v>564</c:v>
                </c:pt>
                <c:pt idx="5">
                  <c:v>521</c:v>
                </c:pt>
                <c:pt idx="6">
                  <c:v>623</c:v>
                </c:pt>
                <c:pt idx="7">
                  <c:v>620</c:v>
                </c:pt>
                <c:pt idx="8">
                  <c:v>941</c:v>
                </c:pt>
                <c:pt idx="9">
                  <c:v>935</c:v>
                </c:pt>
                <c:pt idx="10">
                  <c:v>1046</c:v>
                </c:pt>
                <c:pt idx="11">
                  <c:v>938</c:v>
                </c:pt>
                <c:pt idx="12">
                  <c:v>1024</c:v>
                </c:pt>
                <c:pt idx="13">
                  <c:v>938</c:v>
                </c:pt>
                <c:pt idx="14">
                  <c:v>986</c:v>
                </c:pt>
                <c:pt idx="15">
                  <c:v>1076</c:v>
                </c:pt>
                <c:pt idx="16">
                  <c:v>985</c:v>
                </c:pt>
                <c:pt idx="17">
                  <c:v>952</c:v>
                </c:pt>
                <c:pt idx="18">
                  <c:v>969</c:v>
                </c:pt>
                <c:pt idx="19">
                  <c:v>955</c:v>
                </c:pt>
                <c:pt idx="20">
                  <c:v>966</c:v>
                </c:pt>
                <c:pt idx="21">
                  <c:v>953</c:v>
                </c:pt>
                <c:pt idx="22">
                  <c:v>975</c:v>
                </c:pt>
                <c:pt idx="23">
                  <c:v>937</c:v>
                </c:pt>
                <c:pt idx="24">
                  <c:v>885</c:v>
                </c:pt>
                <c:pt idx="25">
                  <c:v>892</c:v>
                </c:pt>
                <c:pt idx="26">
                  <c:v>910</c:v>
                </c:pt>
                <c:pt idx="27">
                  <c:v>907</c:v>
                </c:pt>
                <c:pt idx="28">
                  <c:v>894</c:v>
                </c:pt>
                <c:pt idx="29">
                  <c:v>863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Settembre 2025</c:v>
                </c:pt>
              </c:strCache>
            </c:strRef>
          </c:tx>
          <c:spPr>
            <a:solidFill>
              <a:srgbClr val="CCCCCC"/>
            </a:solidFill>
            <a:ln w="3175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Sheet1!$A$2:$A$31</c:f>
              <c:multiLvlStrCache>
                <c:ptCount val="3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</c:lvl>
              </c:multiLvlStrCache>
            </c:multiLvl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604</c:v>
                </c:pt>
                <c:pt idx="1">
                  <c:v>627</c:v>
                </c:pt>
                <c:pt idx="2">
                  <c:v>520</c:v>
                </c:pt>
                <c:pt idx="3">
                  <c:v>556</c:v>
                </c:pt>
                <c:pt idx="4">
                  <c:v>506</c:v>
                </c:pt>
                <c:pt idx="5">
                  <c:v>474</c:v>
                </c:pt>
                <c:pt idx="6">
                  <c:v>380</c:v>
                </c:pt>
                <c:pt idx="7">
                  <c:v>556</c:v>
                </c:pt>
                <c:pt idx="8">
                  <c:v>579</c:v>
                </c:pt>
                <c:pt idx="9">
                  <c:v>583</c:v>
                </c:pt>
                <c:pt idx="10">
                  <c:v>539</c:v>
                </c:pt>
                <c:pt idx="11">
                  <c:v>535</c:v>
                </c:pt>
                <c:pt idx="12">
                  <c:v>501</c:v>
                </c:pt>
                <c:pt idx="13">
                  <c:v>433</c:v>
                </c:pt>
                <c:pt idx="14">
                  <c:v>533</c:v>
                </c:pt>
                <c:pt idx="15">
                  <c:v>592</c:v>
                </c:pt>
                <c:pt idx="16">
                  <c:v>573</c:v>
                </c:pt>
                <c:pt idx="17">
                  <c:v>599</c:v>
                </c:pt>
                <c:pt idx="18">
                  <c:v>559</c:v>
                </c:pt>
                <c:pt idx="19">
                  <c:v>448</c:v>
                </c:pt>
                <c:pt idx="20">
                  <c:v>410</c:v>
                </c:pt>
                <c:pt idx="21">
                  <c:v>595</c:v>
                </c:pt>
                <c:pt idx="22">
                  <c:v>522</c:v>
                </c:pt>
                <c:pt idx="23">
                  <c:v>610</c:v>
                </c:pt>
                <c:pt idx="24">
                  <c:v>539</c:v>
                </c:pt>
                <c:pt idx="25">
                  <c:v>536</c:v>
                </c:pt>
                <c:pt idx="26">
                  <c:v>477</c:v>
                </c:pt>
                <c:pt idx="27">
                  <c:v>411</c:v>
                </c:pt>
                <c:pt idx="28">
                  <c:v>602</c:v>
                </c:pt>
                <c:pt idx="29">
                  <c:v>540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Canali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52217"/>
              </a:solidFill>
              <a:effectLst/>
            </c:spPr>
          </c:dPt>
          <c:dPt>
            <c:idx val="1"/>
            <c:bubble3D val="0"/>
            <c:spPr>
              <a:solidFill>
                <a:srgbClr val="5781FF"/>
              </a:solidFill>
              <a:effectLst/>
            </c:spPr>
          </c:dPt>
          <c:dPt>
            <c:idx val="2"/>
            <c:bubble3D val="0"/>
            <c:spPr>
              <a:solidFill>
                <a:srgbClr val="551FC4"/>
              </a:solidFill>
              <a:effectLst/>
            </c:spPr>
          </c:dPt>
          <c:dPt>
            <c:idx val="3"/>
            <c:bubble3D val="0"/>
            <c:spPr>
              <a:solidFill>
                <a:srgbClr val="118541"/>
              </a:solidFill>
              <a:effectLst/>
            </c:spPr>
          </c:dPt>
          <c:dPt>
            <c:idx val="4"/>
            <c:bubble3D val="0"/>
            <c:spPr>
              <a:solidFill>
                <a:srgbClr val="DB5E29"/>
              </a:solidFill>
              <a:effectLst/>
            </c:spPr>
          </c:dPt>
          <c:dPt>
            <c:idx val="5"/>
            <c:bubble3D val="0"/>
            <c:spPr>
              <a:solidFill>
                <a:srgbClr val="48484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191919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191919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191919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191919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191919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191919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Paid Search</c:v>
                </c:pt>
                <c:pt idx="1">
                  <c:v>Paid Social</c:v>
                </c:pt>
                <c:pt idx="2">
                  <c:v>Cross-network</c:v>
                </c:pt>
                <c:pt idx="3">
                  <c:v>Organic Search</c:v>
                </c:pt>
                <c:pt idx="4">
                  <c:v>Direct</c:v>
                </c:pt>
                <c:pt idx="5">
                  <c:v>Altro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8129</c:v>
                </c:pt>
                <c:pt idx="1">
                  <c:v>5933</c:v>
                </c:pt>
                <c:pt idx="2">
                  <c:v>3917</c:v>
                </c:pt>
                <c:pt idx="3">
                  <c:v>4271</c:v>
                </c:pt>
                <c:pt idx="4">
                  <c:v>1914</c:v>
                </c:pt>
                <c:pt idx="5">
                  <c:v>1527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Set 2026</c:v>
                </c:pt>
              </c:strCache>
            </c:strRef>
          </c:tx>
          <c:spPr>
            <a:solidFill>
              <a:srgbClr val="E522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Paid Search</c:v>
                  </c:pt>
                  <c:pt idx="1">
                    <c:v>Paid Social</c:v>
                  </c:pt>
                  <c:pt idx="2">
                    <c:v>Cross-net.</c:v>
                  </c:pt>
                  <c:pt idx="3">
                    <c:v>Organic</c:v>
                  </c:pt>
                  <c:pt idx="4">
                    <c:v>Direct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8129</c:v>
                </c:pt>
                <c:pt idx="1">
                  <c:v>5933</c:v>
                </c:pt>
                <c:pt idx="2">
                  <c:v>3917</c:v>
                </c:pt>
                <c:pt idx="3">
                  <c:v>4271</c:v>
                </c:pt>
                <c:pt idx="4">
                  <c:v>1914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Set 2025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Paid Search</c:v>
                  </c:pt>
                  <c:pt idx="1">
                    <c:v>Paid Social</c:v>
                  </c:pt>
                  <c:pt idx="2">
                    <c:v>Cross-net.</c:v>
                  </c:pt>
                  <c:pt idx="3">
                    <c:v>Organic</c:v>
                  </c:pt>
                  <c:pt idx="4">
                    <c:v>Direct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3876</c:v>
                </c:pt>
                <c:pt idx="1">
                  <c:v>4676</c:v>
                </c:pt>
                <c:pt idx="2">
                  <c:v>19</c:v>
                </c:pt>
                <c:pt idx="3">
                  <c:v>4448</c:v>
                </c:pt>
                <c:pt idx="4">
                  <c:v>2009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Investimento (€)</c:v>
                </c:pt>
              </c:strCache>
            </c:strRef>
          </c:tx>
          <c:spPr>
            <a:solidFill>
              <a:srgbClr val="E522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Search Generic</c:v>
                  </c:pt>
                  <c:pt idx="1">
                    <c:v>DG Traffico</c:v>
                  </c:pt>
                  <c:pt idx="2">
                    <c:v>DG Lead Gen</c:v>
                  </c:pt>
                  <c:pt idx="3">
                    <c:v>Brand Product</c:v>
                  </c:pt>
                  <c:pt idx="4">
                    <c:v>Brand Prot.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2827</c:v>
                </c:pt>
                <c:pt idx="1">
                  <c:v>1251</c:v>
                </c:pt>
                <c:pt idx="2">
                  <c:v>636</c:v>
                </c:pt>
                <c:pt idx="3">
                  <c:v>240</c:v>
                </c:pt>
                <c:pt idx="4">
                  <c:v>239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919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Investimento (€)</c:v>
                </c:pt>
              </c:strCache>
            </c:strRef>
          </c:tx>
          <c:spPr>
            <a:solidFill>
              <a:srgbClr val="5781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Lead Gen Riv.</c:v>
                  </c:pt>
                  <c:pt idx="1">
                    <c:v>Blog Consid.</c:v>
                  </c:pt>
                  <c:pt idx="2">
                    <c:v>FEEL5 B2B</c:v>
                  </c:pt>
                  <c:pt idx="3">
                    <c:v>Area Pro B2B</c:v>
                  </c:pt>
                  <c:pt idx="4">
                    <c:v>Promo PED</c:v>
                  </c:pt>
                  <c:pt idx="5">
                    <c:v>Store Locator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1108</c:v>
                </c:pt>
                <c:pt idx="1">
                  <c:v>1061</c:v>
                </c:pt>
                <c:pt idx="2">
                  <c:v>572</c:v>
                </c:pt>
                <c:pt idx="3">
                  <c:v>556</c:v>
                </c:pt>
                <c:pt idx="4">
                  <c:v>292</c:v>
                </c:pt>
                <c:pt idx="5">
                  <c:v>237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919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Allocazione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52217"/>
              </a:solidFill>
              <a:effectLst/>
            </c:spPr>
          </c:dPt>
          <c:dPt>
            <c:idx val="1"/>
            <c:bubble3D val="0"/>
            <c:spPr>
              <a:solidFill>
                <a:srgbClr val="5781FF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Google Ads</c:v>
                </c:pt>
                <c:pt idx="1">
                  <c:v>Meta Ads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5193</c:v>
                </c:pt>
                <c:pt idx="1">
                  <c:v>3826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919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Set 2026</c:v>
                </c:pt>
              </c:strCache>
            </c:strRef>
          </c:tx>
          <c:spPr>
            <a:solidFill>
              <a:srgbClr val="E522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Info prodotto</c:v>
                  </c:pt>
                  <c:pt idx="1">
                    <c:v>Registrazioni</c:v>
                  </c:pt>
                  <c:pt idx="2">
                    <c:v>FEEL5</c:v>
                  </c:pt>
                  <c:pt idx="3">
                    <c:v>Form contatto</c:v>
                  </c:pt>
                  <c:pt idx="4">
                    <c:v>Contatta PV</c:v>
                  </c:pt>
                  <c:pt idx="5">
                    <c:v>FEEL4</c:v>
                  </c:pt>
                  <c:pt idx="6">
                    <c:v>Newsletter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</c:v>
                </c:pt>
                <c:pt idx="1">
                  <c:v>56</c:v>
                </c:pt>
                <c:pt idx="2">
                  <c:v>54</c:v>
                </c:pt>
                <c:pt idx="3">
                  <c:v>38</c:v>
                </c:pt>
                <c:pt idx="4">
                  <c:v>25</c:v>
                </c:pt>
                <c:pt idx="5">
                  <c:v>7</c:v>
                </c:pt>
                <c:pt idx="6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Set 2025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Info prodotto</c:v>
                  </c:pt>
                  <c:pt idx="1">
                    <c:v>Registrazioni</c:v>
                  </c:pt>
                  <c:pt idx="2">
                    <c:v>FEEL5</c:v>
                  </c:pt>
                  <c:pt idx="3">
                    <c:v>Form contatto</c:v>
                  </c:pt>
                  <c:pt idx="4">
                    <c:v>Contatta PV</c:v>
                  </c:pt>
                  <c:pt idx="5">
                    <c:v>FEEL4</c:v>
                  </c:pt>
                  <c:pt idx="6">
                    <c:v>Newsletter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</c:v>
                </c:pt>
                <c:pt idx="1">
                  <c:v>55</c:v>
                </c:pt>
                <c:pt idx="2">
                  <c:v>99</c:v>
                </c:pt>
                <c:pt idx="3">
                  <c:v>36</c:v>
                </c:pt>
                <c:pt idx="4">
                  <c:v>29</c:v>
                </c:pt>
                <c:pt idx="5">
                  <c:v>2</c:v>
                </c:pt>
                <c:pt idx="6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919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Sessioni</c:v>
                </c:pt>
              </c:strCache>
            </c:strRef>
          </c:tx>
          <c:spPr>
            <a:solidFill>
              <a:srgbClr val="E522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Nuovo magazine FEEL5 (landing)</c:v>
                  </c:pt>
                  <c:pt idx="1">
                    <c:v>Magazine FEEL (indice)</c:v>
                  </c:pt>
                  <c:pt idx="2">
                    <c:v>Download magazine FEEL5</c:v>
                  </c:pt>
                  <c:pt idx="3">
                    <c:v>Magazine FEEL4 (landing)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445</c:v>
                </c:pt>
                <c:pt idx="1">
                  <c:v>117</c:v>
                </c:pt>
                <c:pt idx="2">
                  <c:v>37</c:v>
                </c:pt>
                <c:pt idx="3">
                  <c:v>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919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E2A5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Set 2026</c:v>
                  </c:pt>
                  <c:pt idx="1">
                    <c:v>Set 2025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1653</c:v>
                </c:pt>
                <c:pt idx="1">
                  <c:v>1354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919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9191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91440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5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FERRERO</a:t>
            </a:r>
            <a:endParaRPr lang="en-US" sz="5600" dirty="0"/>
          </a:p>
          <a:p>
            <a:pPr indent="0" marL="0">
              <a:lnSpc>
                <a:spcPct val="85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LEGNO</a:t>
            </a:r>
            <a:endParaRPr lang="en-US" sz="5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108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7777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DESIGN TO BE OPEN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5720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Report settembre 2026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212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7777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13 ottobre 2026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608076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05840" y="6035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9191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286000"/>
            <a:ext cx="10058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i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Andamento e risultati</a:t>
            </a:r>
            <a:endParaRPr lang="en-US" sz="3800" dirty="0"/>
          </a:p>
          <a:p>
            <a:pPr indent="0" marL="0">
              <a:buNone/>
            </a:pPr>
            <a:r>
              <a:rPr lang="en-US" sz="3800" i="1" dirty="0">
                <a:solidFill>
                  <a:srgbClr val="888888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Settembre 2026.</a:t>
            </a:r>
            <a:endParaRPr lang="en-US" sz="3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AL SITO | PANORAMICA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Forte crescita delle sessioni a settembre: +59% rispetto al 2025, trainata dai canali paid</a:t>
            </a:r>
            <a:endParaRPr lang="en-US" sz="2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274320" y="1554480"/>
          <a:ext cx="77724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412480" y="1554480"/>
            <a:ext cx="3474720" cy="822960"/>
          </a:xfrm>
          <a:prstGeom prst="roundRect">
            <a:avLst>
              <a:gd name="adj" fmla="val 8889"/>
            </a:avLst>
          </a:prstGeom>
          <a:solidFill>
            <a:srgbClr val="F4F5F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4964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</a:t>
            </a:r>
            <a:endParaRPr lang="en-US" sz="7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1828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25.691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0241280" y="18288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+59,4%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1064240" y="192024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16.115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8412480" y="2514600"/>
            <a:ext cx="3474720" cy="822960"/>
          </a:xfrm>
          <a:prstGeom prst="roundRect">
            <a:avLst>
              <a:gd name="adj" fmla="val 8889"/>
            </a:avLst>
          </a:prstGeom>
          <a:solidFill>
            <a:srgbClr val="F4F5F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549640" y="25877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UTENTI</a:t>
            </a:r>
            <a:endParaRPr lang="en-US" sz="700" dirty="0"/>
          </a:p>
        </p:txBody>
      </p:sp>
      <p:sp>
        <p:nvSpPr>
          <p:cNvPr id="15" name="Text 12"/>
          <p:cNvSpPr txBox="1"/>
          <p:nvPr/>
        </p:nvSpPr>
        <p:spPr>
          <a:xfrm>
            <a:off x="854964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18.350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0" y="2788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+69,7%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1064240" y="288036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10.814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8412480" y="3474720"/>
            <a:ext cx="3474720" cy="822960"/>
          </a:xfrm>
          <a:prstGeom prst="roundRect">
            <a:avLst>
              <a:gd name="adj" fmla="val 8889"/>
            </a:avLst>
          </a:prstGeom>
          <a:solidFill>
            <a:srgbClr val="F4F5F6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49640" y="354787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VISUALIZZAZIONI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8549640" y="37490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84.993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10241280" y="37490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+9,1%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11064240" y="384048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77.872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8412480" y="4434840"/>
            <a:ext cx="3474720" cy="822960"/>
          </a:xfrm>
          <a:prstGeom prst="roundRect">
            <a:avLst>
              <a:gd name="adj" fmla="val 8889"/>
            </a:avLst>
          </a:prstGeom>
          <a:solidFill>
            <a:srgbClr val="F4F5F6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549640" y="450799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ENGAGEMENT</a:t>
            </a:r>
            <a:endParaRPr lang="en-US" sz="700" dirty="0"/>
          </a:p>
        </p:txBody>
      </p:sp>
      <p:sp>
        <p:nvSpPr>
          <p:cNvPr id="25" name="Text 22"/>
          <p:cNvSpPr txBox="1"/>
          <p:nvPr/>
        </p:nvSpPr>
        <p:spPr>
          <a:xfrm>
            <a:off x="8549640" y="4709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86,0%</a:t>
            </a:r>
            <a:endParaRPr lang="en-US" sz="22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0" y="4709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-0,1pp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11064240" y="48006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86,1%</a:t>
            </a:r>
            <a:endParaRPr lang="en-US" sz="7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" y="54864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traffico cresce grazie ai canali paid, che portano il 70% delle sessioni totali. Le sessioni giornaliere raggiungono picchi sopra le 1.000 dalla seconda settimana.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AL SITO | MIX CANALI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paid guida il 70% del traffico totale con Paid Search e Cross-network in fortissima crescita</a:t>
            </a:r>
            <a:endParaRPr lang="en-US" sz="2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274320" y="1554480"/>
          <a:ext cx="45720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Chart 1" descr=""/>
          <p:cNvGraphicFramePr/>
          <p:nvPr/>
        </p:nvGraphicFramePr>
        <p:xfrm>
          <a:off x="5303520" y="1554480"/>
          <a:ext cx="64008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Paid Search (+110%) </a:t>
            </a:r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 </a:t>
            </a:r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Cross-network (+20.516%) </a:t>
            </a:r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trainano la crescita. Cross-network raccoglie Demand Gen, PMax, YouTube e Display. L'organic cala del 4%, il direct del 4,7%.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ORGANICO | I NUMERI CHIAVE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L'organico continua il trend di calo YoY, trainato dalla contrazione della domanda e dall'erosione AI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73736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-18%</a:t>
            </a:r>
            <a:endParaRPr lang="en-US" sz="7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3832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 ORGANICI (IT)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74904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Da 6.593 a 5.391 clic.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calo continua il trend dei mesi precedenti, legato alla contrazione della domanda e all'effetto AI Overview.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60520" y="1828800"/>
            <a:ext cx="18288" cy="3200400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297680" y="173736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+1,7%</a:t>
            </a:r>
            <a:endParaRPr lang="en-US" sz="72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33832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297680" y="374904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Da 121.681 a 123.803 impression.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 impression crescono leggermente, segno che il sito mantiene visibilità ma perde clic.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01000" y="1828800"/>
            <a:ext cx="18288" cy="3200400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138160" y="173736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+4</a:t>
            </a:r>
            <a:endParaRPr lang="en-US" sz="7200" dirty="0"/>
          </a:p>
        </p:txBody>
      </p:sp>
      <p:sp>
        <p:nvSpPr>
          <p:cNvPr id="16" name="Text 14"/>
          <p:cNvSpPr txBox="1"/>
          <p:nvPr/>
        </p:nvSpPr>
        <p:spPr>
          <a:xfrm>
            <a:off x="8138160" y="33832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POSIZIONI GUADAGNATE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374904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Da 15,9 a 11,9 posizione media.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posizionamento migliora sensibilmente, ma non basta a compensare il calo dei volumi di ricerca.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GSC - IT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ORGANICO | ANALISI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Perché stiamo subendo questo calo?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02920" cy="50292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1691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AI OVERVIEW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3474720" cy="18288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46888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mostra risposte generate dall'AI direttamente nei risultati di ricerca, riducendo i clic verso i siti web. I contenuti informativi, come quelli del magazine, sono i più colpiti. Il CTR medio scende da 5,42% a 4,35% (-1,07pp).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0" y="1645920"/>
            <a:ext cx="502920" cy="50292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29768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1691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CALO RICERCHE BRAND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297680" y="2286000"/>
            <a:ext cx="3474720" cy="18288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297680" y="246888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 ricerche legate al brand "Ferrero Legno" continuano a diminuire, in linea con un trend già visibile nei mesi precedenti. Questo riduce il volume di clic organici anche sulle pagine meglio posizionate.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38160" y="1645920"/>
            <a:ext cx="502920" cy="50292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13816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778240" y="1691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CONTRAZIONE DOMANDA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2286000"/>
            <a:ext cx="3474720" cy="18288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138160" y="246888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settore porte e infissi di design registra una contrazione delle ricerche online a livello generale. Nonostante il miglioramento del posizionamento (+4 posizioni), il volume complessivo di ricerche è inferiore rispetto al 2025.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GSC, Google Trends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AL SITO | FOCUS ADVERTISING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consolida la crescita, Meta mantiene i volumi, Pinterest cresce del 22%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E5221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ADS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3566160" cy="3474720"/>
          </a:xfrm>
          <a:prstGeom prst="roundRect">
            <a:avLst>
              <a:gd name="adj" fmla="val 2105"/>
            </a:avLst>
          </a:prstGeom>
          <a:solidFill>
            <a:srgbClr val="F4F5F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2860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44.231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24688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+465%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1089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291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465.037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2560320" y="3291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+552%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9319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114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5.193 €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2560320" y="4114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+102%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7548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MEDIO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0,12 €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2560320" y="49377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-64%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297680" y="155448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5781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43484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ADS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297680" y="2103120"/>
            <a:ext cx="3566160" cy="3474720"/>
          </a:xfrm>
          <a:prstGeom prst="roundRect">
            <a:avLst>
              <a:gd name="adj" fmla="val 2105"/>
            </a:avLst>
          </a:prstGeom>
          <a:solidFill>
            <a:srgbClr val="F4F5F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480560" y="22860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LINK CLIC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480560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12.970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0" y="24688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-6,7%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480560" y="31089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REACH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480560" y="3291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663.579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0" y="3291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-8,0%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480560" y="39319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480560" y="4114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3.826 €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0" y="4114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+10,6%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480560" y="47548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MEDIO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4480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0,30 €</a:t>
            </a:r>
            <a:endParaRPr lang="en-US" sz="20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0" y="49377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+18,5%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138160" y="155448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CE2A59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27532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PINTEREST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8138160" y="2103120"/>
            <a:ext cx="3566160" cy="3474720"/>
          </a:xfrm>
          <a:prstGeom prst="roundRect">
            <a:avLst>
              <a:gd name="adj" fmla="val 2105"/>
            </a:avLst>
          </a:prstGeom>
          <a:solidFill>
            <a:srgbClr val="F4F5F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321040" y="22860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8321040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1.653</a:t>
            </a:r>
            <a:endParaRPr lang="en-US" sz="2000" dirty="0"/>
          </a:p>
        </p:txBody>
      </p:sp>
      <p:sp>
        <p:nvSpPr>
          <p:cNvPr id="42" name="Text 40"/>
          <p:cNvSpPr txBox="1"/>
          <p:nvPr/>
        </p:nvSpPr>
        <p:spPr>
          <a:xfrm>
            <a:off x="10241280" y="24688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+22,1%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8321040" y="31089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 2025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8321040" y="3291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1.354</a:t>
            </a:r>
            <a:endParaRPr lang="en-US" sz="2000" dirty="0"/>
          </a:p>
        </p:txBody>
      </p:sp>
      <p:sp>
        <p:nvSpPr>
          <p:cNvPr id="45" name="Text 43"/>
          <p:cNvSpPr txBox="1"/>
          <p:nvPr/>
        </p:nvSpPr>
        <p:spPr>
          <a:xfrm>
            <a:off x="8321040" y="39319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CANALE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8321040" y="4114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Organico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8321040" y="47548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QUOTA TRAFFICO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832104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6,4%</a:t>
            </a:r>
            <a:endParaRPr lang="en-US" sz="200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 totale settembre 2026: 9.019 € (Google 5.193 € + Meta 3.826 €)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Google Ads, Meta Ads, GA4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ADS | DETTAGLIO CAMPAGNE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Demand Gen e Search Generic sono i principali driver di crescita</a:t>
            </a:r>
            <a:endParaRPr lang="en-US" sz="2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371600"/>
                <a:gridCol w="1097280"/>
                <a:gridCol w="1371600"/>
                <a:gridCol w="10972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Campagna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Clic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Impression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CTR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Costo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CPC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Search Generic (Consid.)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17.384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92.951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18,7%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2.827 €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DG Consideration Traffico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19.737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295.383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6,7%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1.251 €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0,06 €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DG Conversion Lead Gen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2.288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64.777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3,5%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636 €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0,28 €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Search Brand Product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1.911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5.122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37,3%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240 €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0,13 €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Search Brand Protection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2.911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6.804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42,8%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239 €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0,08 €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44.231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465.037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9,5%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5.193 €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0,12 €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Chart 0" descr=""/>
          <p:cNvGraphicFramePr/>
          <p:nvPr/>
        </p:nvGraphicFramePr>
        <p:xfrm>
          <a:off x="457200" y="4206240"/>
          <a:ext cx="685800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5"/>
          <p:cNvSpPr/>
          <p:nvPr/>
        </p:nvSpPr>
        <p:spPr>
          <a:xfrm>
            <a:off x="7772400" y="4206240"/>
            <a:ext cx="3931920" cy="1828800"/>
          </a:xfrm>
          <a:prstGeom prst="roundRect">
            <a:avLst>
              <a:gd name="adj" fmla="val 4000"/>
            </a:avLst>
          </a:prstGeom>
          <a:solidFill>
            <a:srgbClr val="F4F5F6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55280" y="4297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YOY HIGHLIGHTS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7955280" y="461772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 +465%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 +102% (da 2.573 a 5.193 €)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-64% (da 0,33 a 0,12 €)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i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Demand Gen non era attivo nel 2025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Google Ads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ADS | DETTAGLIO CAMPAGNE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Blog e Lead Gen rivenditori concentrano la maggior parte dell'investimento</a:t>
            </a:r>
            <a:endParaRPr lang="en-US" sz="2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097280"/>
                <a:gridCol w="1097280"/>
                <a:gridCol w="13716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Campagna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Link clic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CTR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CPC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Spesa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Lead Gen Rivenditori DEF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2.308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1,92%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0,48 €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1.108 €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Blog Consideration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7.059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2,26%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0,15 €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1.061 €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FEEL5 B2B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575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0,92%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0,99 €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572 €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Iscrizioni Area Pro B2B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491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0,87%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1,13 €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556 €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Promo PED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429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0,07%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0,68 €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292 €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Store Locator B2C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2.108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2,01%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0,11 €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237 €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12.970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1,01%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0,30 €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3.826 €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Chart 0" descr=""/>
          <p:cNvGraphicFramePr/>
          <p:nvPr/>
        </p:nvGraphicFramePr>
        <p:xfrm>
          <a:off x="457200" y="4114800"/>
          <a:ext cx="685800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5"/>
          <p:cNvSpPr/>
          <p:nvPr/>
        </p:nvSpPr>
        <p:spPr>
          <a:xfrm>
            <a:off x="7772400" y="4114800"/>
            <a:ext cx="3931920" cy="1828800"/>
          </a:xfrm>
          <a:prstGeom prst="roundRect">
            <a:avLst>
              <a:gd name="adj" fmla="val 4000"/>
            </a:avLst>
          </a:prstGeom>
          <a:solidFill>
            <a:srgbClr val="F4F5F6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55280" y="4206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INSIGHT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7955280" y="448056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Blog Consideration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Porta il volume maggiore (7.059 clic) con CPC 0,15 €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Store Locator B2C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CPC più efficiente in assoluto: 0,11 €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Meta Ads | Periodo: set 2026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 ADVERTISING | ALLOCAZIONE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 totale 9.019 €: Google Ads assorbe il 57,6% del budget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459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9.019 €</a:t>
            </a:r>
            <a:endParaRPr lang="en-US" sz="56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514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 TOTALE SETTEMBRE 2026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0" y="292608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5486400" y="1645920"/>
            <a:ext cx="6217920" cy="2194560"/>
          </a:xfrm>
          <a:prstGeom prst="roundRect">
            <a:avLst>
              <a:gd name="adj" fmla="val 4167"/>
            </a:avLst>
          </a:prstGeom>
          <a:solidFill>
            <a:srgbClr val="F4F5F6"/>
          </a:solidFill>
          <a:ln/>
        </p:spPr>
      </p:sp>
      <p:sp>
        <p:nvSpPr>
          <p:cNvPr id="11" name="Shape 8"/>
          <p:cNvSpPr/>
          <p:nvPr/>
        </p:nvSpPr>
        <p:spPr>
          <a:xfrm>
            <a:off x="5486400" y="1645920"/>
            <a:ext cx="73152" cy="2194560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760720" y="1783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ADS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0" y="1783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57,6% del budget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760720" y="22860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5760720" y="2514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5.193 €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22860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2514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44.231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9784080" y="22860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</a:t>
            </a:r>
            <a:endParaRPr lang="en-US" sz="800" dirty="0"/>
          </a:p>
        </p:txBody>
      </p:sp>
      <p:sp>
        <p:nvSpPr>
          <p:cNvPr id="19" name="Text 16"/>
          <p:cNvSpPr txBox="1"/>
          <p:nvPr/>
        </p:nvSpPr>
        <p:spPr>
          <a:xfrm>
            <a:off x="9784080" y="2514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0,12 €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5760720" y="3200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in calo del 64%: il canale più efficiente per volumi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486400" y="4206240"/>
            <a:ext cx="6217920" cy="2194560"/>
          </a:xfrm>
          <a:prstGeom prst="roundRect">
            <a:avLst>
              <a:gd name="adj" fmla="val 4167"/>
            </a:avLst>
          </a:prstGeom>
          <a:solidFill>
            <a:srgbClr val="F4F5F6"/>
          </a:solidFill>
          <a:ln/>
        </p:spPr>
      </p:sp>
      <p:sp>
        <p:nvSpPr>
          <p:cNvPr id="22" name="Shape 19"/>
          <p:cNvSpPr/>
          <p:nvPr/>
        </p:nvSpPr>
        <p:spPr>
          <a:xfrm>
            <a:off x="5486400" y="4206240"/>
            <a:ext cx="73152" cy="2194560"/>
          </a:xfrm>
          <a:prstGeom prst="rect">
            <a:avLst/>
          </a:prstGeom>
          <a:solidFill>
            <a:srgbClr val="5781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760720" y="4343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ADS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686800" y="4343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42,4% del budget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76072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26" name="Text 23"/>
          <p:cNvSpPr txBox="1"/>
          <p:nvPr/>
        </p:nvSpPr>
        <p:spPr>
          <a:xfrm>
            <a:off x="5760720" y="5074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3.826 €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777240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7772400" y="5074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12.970</a:t>
            </a:r>
            <a:endParaRPr lang="en-US" sz="2200" dirty="0"/>
          </a:p>
        </p:txBody>
      </p:sp>
      <p:sp>
        <p:nvSpPr>
          <p:cNvPr id="29" name="Text 26"/>
          <p:cNvSpPr txBox="1"/>
          <p:nvPr/>
        </p:nvSpPr>
        <p:spPr>
          <a:xfrm>
            <a:off x="978408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9784080" y="5074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0,30 €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576072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stabile, Blog Consideration è il best performer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Google Ads, Meta Ads | Periodo: set 2026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9191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286000"/>
            <a:ext cx="10058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i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</a:t>
            </a:r>
            <a:endParaRPr lang="en-US" sz="3800" dirty="0"/>
          </a:p>
          <a:p>
            <a:pPr indent="0" marL="0">
              <a:buNone/>
            </a:pPr>
            <a:r>
              <a:rPr lang="en-US" sz="3800" i="1" dirty="0">
                <a:solidFill>
                  <a:srgbClr val="888888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Settembre 2026.</a:t>
            </a:r>
            <a:endParaRPr lang="en-US" sz="3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 | PANORAMICA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459 lead totali: la landing rivenditori porta 215 preventivi, compensando il calo tradizionale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F4F5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6459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TOTALI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874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459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3774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settembre 2026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97680" y="155448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F4F5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80560" y="16459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PREVENTIVI LP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1874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215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23774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nuovo canale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138160" y="155448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F4F5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21040" y="16459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TRADIZIONALI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1874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244</a:t>
            </a:r>
            <a:endParaRPr lang="en-US" sz="36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3774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-24,5% vs 2025</a:t>
            </a:r>
            <a:endParaRPr lang="en-US" sz="9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457200" y="2926080"/>
          <a:ext cx="112471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HubSpot, MyArea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 | DETTAGLIO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Dettaglio completo per tipologia di lead e fonte dati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828800"/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Tipologia lead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Fonte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Set 2026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Set 2025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Var. 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Preventivo LP (landing rivenditori)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215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nuovo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Info prodotto (totale)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 + MyArea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100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-39,0%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Registrazioni area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56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+1,8%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FEEL5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99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-45,5%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Form contatto (IT/EN/ES/FR)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38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36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+5,6%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Contatta PV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MyArea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-13,8%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FEEL4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+250,0%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Newsletter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+50,0%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 (escl. Preventivo LP)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0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0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244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0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323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0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-24,5%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0E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 (incl. Preventivo LP)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459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54864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nuova landing rivenditori (Preventivo LP) </a:t>
            </a:r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è il dato più significativo del mese: 215 preventivi da un canale completamente nuovo. Tra le lead tradizionali, il calo di FEEL5 (-45,5%) e info prodotto (-39%) è parzialmente compensato dalla stabilità delle registrazioni area (+1,8%) e dei form contatto (+5,6%).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HubSpot, MyArea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 | FOCUS RIVENDITORI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landing rivenditori raccoglie 215 preventivi con Google e Meta come driver del traffico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19191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6916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PREVENTIVI LANDING RIVENDITORI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1965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215</a:t>
            </a:r>
            <a:endParaRPr lang="en-US" sz="52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preventivi compilati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144000" y="2011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NUOVO CANALE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5394960" cy="2926080"/>
          </a:xfrm>
          <a:prstGeom prst="roundRect">
            <a:avLst>
              <a:gd name="adj" fmla="val 3125"/>
            </a:avLst>
          </a:prstGeom>
          <a:solidFill>
            <a:srgbClr val="F4F5F6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3108960"/>
            <a:ext cx="5394960" cy="73152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3291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Campagna Google Ads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611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DG Conversion Lead Gen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1148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2560320" y="40965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64.777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5720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2560320" y="45537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2.288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0292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2560320" y="50109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636 €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54864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2560320" y="54681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0,28 €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217920" y="3108960"/>
            <a:ext cx="5394960" cy="2926080"/>
          </a:xfrm>
          <a:prstGeom prst="roundRect">
            <a:avLst>
              <a:gd name="adj" fmla="val 3125"/>
            </a:avLst>
          </a:prstGeom>
          <a:solidFill>
            <a:srgbClr val="F4F5F6"/>
          </a:solidFill>
          <a:ln/>
        </p:spPr>
      </p:sp>
      <p:sp>
        <p:nvSpPr>
          <p:cNvPr id="25" name="Shape 23"/>
          <p:cNvSpPr/>
          <p:nvPr/>
        </p:nvSpPr>
        <p:spPr>
          <a:xfrm>
            <a:off x="6217920" y="3108960"/>
            <a:ext cx="5394960" cy="73152"/>
          </a:xfrm>
          <a:prstGeom prst="rect">
            <a:avLst/>
          </a:prstGeom>
          <a:solidFill>
            <a:srgbClr val="5781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92240" y="3291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Campagna Meta Ads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3611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 Rivenditori DEF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41148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REACH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8321040" y="40965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36.082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45720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LINK CLIC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45537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2.308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50292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8321040" y="50109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1.108 €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54864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CTR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8321040" y="54681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1,92%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HubSpot, Google Ads, Meta Ads | Periodo: set 2026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9191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56032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i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Focus Magazine.</a:t>
            </a:r>
            <a:endParaRPr lang="en-US" sz="3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ORGANICO | MAGAZINE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magazine guadagna 10 posizioni ma perde clic per effetto AI Overview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560320" cy="2743200"/>
          </a:xfrm>
          <a:prstGeom prst="roundRect">
            <a:avLst>
              <a:gd name="adj" fmla="val 3571"/>
            </a:avLst>
          </a:prstGeom>
          <a:solidFill>
            <a:srgbClr val="F4F5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37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-21%</a:t>
            </a:r>
            <a:endParaRPr lang="en-US" sz="4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834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54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92 vs 117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91840" y="1554480"/>
            <a:ext cx="2560320" cy="2743200"/>
          </a:xfrm>
          <a:prstGeom prst="roundRect">
            <a:avLst>
              <a:gd name="adj" fmla="val 3571"/>
            </a:avLst>
          </a:prstGeom>
          <a:solidFill>
            <a:srgbClr val="F4F5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474720" y="1737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-17%</a:t>
            </a:r>
            <a:endParaRPr lang="en-US" sz="42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834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3154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8.267 vs 9.969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126480" y="1554480"/>
            <a:ext cx="2560320" cy="2743200"/>
          </a:xfrm>
          <a:prstGeom prst="roundRect">
            <a:avLst>
              <a:gd name="adj" fmla="val 3571"/>
            </a:avLst>
          </a:prstGeom>
          <a:solidFill>
            <a:srgbClr val="F4F5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09360" y="1737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1,11%</a:t>
            </a:r>
            <a:endParaRPr lang="en-US" sz="42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834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CTR MEDIO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154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1,17%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961120" y="1554480"/>
            <a:ext cx="2560320" cy="2743200"/>
          </a:xfrm>
          <a:prstGeom prst="roundRect">
            <a:avLst>
              <a:gd name="adj" fmla="val 3571"/>
            </a:avLst>
          </a:prstGeom>
          <a:solidFill>
            <a:srgbClr val="F4F5F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0" y="1737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8,7</a:t>
            </a:r>
            <a:endParaRPr lang="en-US" sz="42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2834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POSIZIONE MEDIA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0" y="3154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19,4 (+10,7 pos.)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5720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posizione media migliora da 19,4 a 8,7 (+10,7 posizioni): </a:t>
            </a:r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 risultato molto significativo. Tuttavia i clic diminuiscono del 21% per la contrazione delle impression (-17%). L'erosione del CTR da AI Overview continua a incidere particolarmente sui contenuti informativi del magazine.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53949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FFF0E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31520" y="54406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Download magazine FEEL: 35 (set 2026) vs 69 (set 2025) = -49%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GSC, GA4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PAID | MAGAZINE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campagna Blog Consideration porta 7.059 clic al magazine con CPC molto efficiente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11247120" cy="1828800"/>
          </a:xfrm>
          <a:prstGeom prst="roundRect">
            <a:avLst>
              <a:gd name="adj" fmla="val 5000"/>
            </a:avLst>
          </a:prstGeom>
          <a:solidFill>
            <a:srgbClr val="F4F5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691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781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BLOG CONSIDERATION (META ADS)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031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LINK CLIC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7.059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21031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REACH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136.533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21031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CTR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2,26%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0" y="21031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MEDIO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0,15 €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0" y="21031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0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1.061 €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657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 ALLE PAGINE MAGAZINE (GA4)</a:t>
            </a:r>
            <a:endParaRPr lang="en-US" sz="10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57200" y="3931920"/>
          <a:ext cx="1124712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Meta Ads, GA4 | Periodo: set 2026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PINTEREST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Pinterest si conferma un canale in crescita: sessioni +22% rispetto al 2025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4592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+22%</a:t>
            </a:r>
            <a:endParaRPr lang="en-US" sz="8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926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CRESCITA SESSIONI DA PINTEREST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0" y="1645920"/>
            <a:ext cx="6217920" cy="914400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0" y="17373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 SET 2026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1965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1.653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5486400" y="2743200"/>
            <a:ext cx="6217920" cy="914400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0" y="28346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 SET 2025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3063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1.354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5486400" y="3840480"/>
            <a:ext cx="6217920" cy="914400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0" y="39319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QUOTA SUL TOTALE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0" y="41605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6,4%</a:t>
            </a:r>
            <a:endParaRPr lang="en-US" sz="26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57200" y="3474720"/>
          <a:ext cx="457200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5486400" y="484632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Pinterest è un canale che porta traffico qualificato, con utenti interessati al design e all'arredamento. La crescita del 22% conferma il valore della presenza organica sulla piattaforma.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9191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i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 chiusura.</a:t>
            </a:r>
            <a:endParaRPr lang="en-US" sz="3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RIEPILOGO | ADVERTISING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 risultati chiave dell'advertising a settembre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508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Ads quadruplica i clic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7830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+465% clic (44.231 vs 7.834), con un CPC in calo del 64% grazie all'efficienza delle campagne Demand Gen. Investimento: 5.193 € (+102%).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51460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514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4688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Demand Gen, il nuovo protagonista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78892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 campagne Demand Gen (assenti nel 2025) portano oltre 22.000 clic con CPC medio di 0,06 €, il canale paid più efficiente in assoluto.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52044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4747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Ads mantiene i volumi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7947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Blog Consideration è il best performer: 7.059 clic con CPC di 0,15 €. Lead Gen Rivenditori porta 2.308 clic con CTR dell'1,92%.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452628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4526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44805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Landing rivenditori: 215 preventivi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48006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nuovo canale genera 215 preventivi tra Google Ads (DG Conversion, 636 €) e Meta Ads (Lead Gen Riv., 1.108 €).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553212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5532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" y="5486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 totale: 9.019 €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8064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57,6% (5.193 €) + Meta 42,4% (3.826 €). Il paid porta il 70% del traffico totale al sito.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RIEPILOGO | SEO E ORGANICO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 risultati chiave del canale organico a settembre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508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 organici in calo, posizionamento in crescita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7830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-18% clic in Italia (5.391 vs 6.593), ma la posizione media migliora da 15,9 a 11,9 (+4 posizioni). Le impression crescono dell'1,7%.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51460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514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4688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AI Overview è il principale driver del calo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78892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 risposte generate dall'AI nei risultati di ricerca Google erodono il CTR dei siti web, in particolare sui contenuti informativi.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52044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4747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Magazine: +10 posizioni guadagnate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7947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posizione media del magazine migliora da 19,4 a 8,7 (+10,7 posizioni), un risultato molto significativo nonostante il calo dei clic (-21%).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452628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4526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44805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Pinterest cresce del 22%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48006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1.653 sessioni da Pinterest (+22,1%), confermando il valore della presenza organica su una piattaforma allineata al target di design.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553212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5532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" y="5486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tradizionali in calo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8064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244 lead tradizionali (-24,5%), in particolare FEEL5 (-45,5%) e info prodotto (-39%). Stabili registrazioni area (+1,8%) e form contatto (+5,6%).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PROSSIMI PASSI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 attività prioritarie per i prossimi mesi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11247120" cy="1005840"/>
          </a:xfrm>
          <a:prstGeom prst="roundRect">
            <a:avLst>
              <a:gd name="adj" fmla="val 7273"/>
            </a:avLst>
          </a:prstGeom>
          <a:solidFill>
            <a:srgbClr val="FFF0EF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463040"/>
            <a:ext cx="54864" cy="1005840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554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CONTENUTI DEMAND GEN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1874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Definire i filoni editoriali da veicolare nelle campagne DG Traffico, capitalizzando sull'efficienza del canale (CPC 0,06 €).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11247120" cy="1005840"/>
          </a:xfrm>
          <a:prstGeom prst="roundRect">
            <a:avLst>
              <a:gd name="adj" fmla="val 7273"/>
            </a:avLst>
          </a:prstGeom>
          <a:solidFill>
            <a:srgbClr val="F4F5F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2651760"/>
            <a:ext cx="54864" cy="1005840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2743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MONITORAGGIO AI OVERVIEW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063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Continuare a monitorare l'impatto di AI Overview sui contenuti del magazine e valutare strategie di contenuto per mitigare l'erosione del CTR.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11247120" cy="1005840"/>
          </a:xfrm>
          <a:prstGeom prst="roundRect">
            <a:avLst>
              <a:gd name="adj" fmla="val 7273"/>
            </a:avLst>
          </a:prstGeom>
          <a:solidFill>
            <a:srgbClr val="F4F5F6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840480"/>
            <a:ext cx="54864" cy="1005840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3931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OTTIMIZZAZIONE BUDGET PAID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251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Valutare l'allocazione del budget sui canali paid in vista della stagione autunnale, in particolare il mix tra Google Ads e Meta Ads.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5029200"/>
            <a:ext cx="11247120" cy="1005840"/>
          </a:xfrm>
          <a:prstGeom prst="roundRect">
            <a:avLst>
              <a:gd name="adj" fmla="val 7273"/>
            </a:avLst>
          </a:prstGeom>
          <a:solidFill>
            <a:srgbClr val="F4F5F6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5029200"/>
            <a:ext cx="54864" cy="1005840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5120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LANDING RIVENDITORI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5440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Ottimizzare la landing page rivenditori sulla base dei 215 preventivi raccolti nel primo mese e migliorare il tasso di conversione.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0" y="731520"/>
            <a:ext cx="548640" cy="54864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754880" y="7315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011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Federico Rugger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86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Project Account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514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federico.rugger@mocainteractive.com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91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Valeria Pompili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566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Digital Advertising Specialist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794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valeria.pompili@mocainteractive.com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572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Daniele Bertini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Digital Analytics Specialist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50749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daniele.bertini@mocainteractive.com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2011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Alessio Trombone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286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Digital Advertising Specialist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2514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alessio.trombone@mocainteractive.com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3291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Tommaso Minello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3566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SEO Specialist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3794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tommaso.minello@mocainteractive.com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217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 Interactive S.r.l. Società Benefit | Via Cernaia, 2 - 35141 Padova | P.IVA 04230520287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errero Legno Report">
  <a:themeElements>
    <a:clrScheme name="Ferrero Legno Report">
      <a:dk1>
        <a:srgbClr val="191919"/>
      </a:dk1>
      <a:lt1>
        <a:srgbClr val="FFFFFF"/>
      </a:lt1>
      <a:dk2>
        <a:srgbClr val="595959"/>
      </a:dk2>
      <a:lt2>
        <a:srgbClr val="F4F5F6"/>
      </a:lt2>
      <a:accent1>
        <a:srgbClr val="E52217"/>
      </a:accent1>
      <a:accent2>
        <a:srgbClr val="118541"/>
      </a:accent2>
      <a:accent3>
        <a:srgbClr val="5781FF"/>
      </a:accent3>
      <a:accent4>
        <a:srgbClr val="551FC4"/>
      </a:accent4>
      <a:accent5>
        <a:srgbClr val="CE2A59"/>
      </a:accent5>
      <a:accent6>
        <a:srgbClr val="DB5E29"/>
      </a:accent6>
      <a:hlink>
        <a:srgbClr val="E52217"/>
      </a:hlink>
      <a:folHlink>
        <a:srgbClr val="CE2A59"/>
      </a:folHlink>
    </a:clrScheme>
    <a:fontScheme name="Ferrero Legno Report">
      <a:majorFont>
        <a:latin typeface="Figtre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Figtre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moca interactive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Ferrero Legno - Report Settembre 2026</dc:title>
  <dc:subject>Report mensile settembre 2026</dc:subject>
  <dc:creator>moca interactive</dc:creator>
  <cp:lastModifiedBy>moca interactive</cp:lastModifiedBy>
  <cp:revision>1</cp:revision>
  <dcterms:created xsi:type="dcterms:W3CDTF">2026-10-13T10:36:31Z</dcterms:created>
  <dcterms:modified xsi:type="dcterms:W3CDTF">2026-10-13T10:36:31Z</dcterms:modified>
</cp:coreProperties>
</file>