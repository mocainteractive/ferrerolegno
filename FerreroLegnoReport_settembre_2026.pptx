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333bd486-02d4-1d9c-bf7f-4253b81eab15}">
          <p14:sldIdLst>
            <p14:sldId id="256"/>
          </p14:sldIdLst>
        </p14:section>
        <p14:section name="Andamento e risultati" id="{250afe10-0d50-c55c-6d39-4f7009dd7019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Lead Generation" id="{67205f5a-f36a-56c6-1d50-4ea9a3a5156e}">
          <p14:sldIdLst>
            <p14:sldId id="265"/>
            <p14:sldId id="266"/>
          </p14:sldIdLst>
        </p14:section>
        <p14:section name="Focus Magazine" id="{6e5db727-3523-61ee-0c12-e488e4668a64}">
          <p14:sldIdLst>
            <p14:sldId id="267"/>
            <p14:sldId id="268"/>
            <p14:sldId id="269"/>
          </p14:sldIdLst>
        </p14:section>
        <p14:section name="Pinterest" id="{c2005d22-cfe0-cd9a-ed88-5394d1d1d412}">
          <p14:sldIdLst>
            <p14:sldId id="270"/>
          </p14:sldIdLst>
        </p14:section>
        <p14:section name="In chiusura" id="{5280ad25-9758-e89c-095c-ae4935cf043b}">
          <p14:sldIdLst>
            <p14:sldId id="271"/>
            <p14:sldId id="272"/>
          </p14:sldIdLst>
        </p14:section>
        <p14:section name="Contatti" id="{43f4e7ec-3163-5b5a-7f6b-42184c92a404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Sessioni settembre 2026</c:v>
                </c:pt>
              </c:strCache>
            </c:strRef>
          </c:tx>
          <c:spPr>
            <a:solidFill>
              <a:srgbClr val="E52217"/>
            </a:solidFill>
            <a:ln w="31750" cap="flat">
              <a:solidFill>
                <a:srgbClr val="E5221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52217"/>
              </a:solidFill>
              <a:ln w="9525" cap="flat">
                <a:solidFill>
                  <a:srgbClr val="E5221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584</c:v>
                </c:pt>
                <c:pt idx="1">
                  <c:v>702</c:v>
                </c:pt>
                <c:pt idx="2">
                  <c:v>633</c:v>
                </c:pt>
                <c:pt idx="3">
                  <c:v>656</c:v>
                </c:pt>
                <c:pt idx="4">
                  <c:v>564</c:v>
                </c:pt>
                <c:pt idx="5">
                  <c:v>521</c:v>
                </c:pt>
                <c:pt idx="6">
                  <c:v>623</c:v>
                </c:pt>
                <c:pt idx="7">
                  <c:v>620</c:v>
                </c:pt>
                <c:pt idx="8">
                  <c:v>941</c:v>
                </c:pt>
                <c:pt idx="9">
                  <c:v>935</c:v>
                </c:pt>
                <c:pt idx="10">
                  <c:v>1046</c:v>
                </c:pt>
                <c:pt idx="11">
                  <c:v>938</c:v>
                </c:pt>
                <c:pt idx="12">
                  <c:v>1024</c:v>
                </c:pt>
                <c:pt idx="13">
                  <c:v>938</c:v>
                </c:pt>
                <c:pt idx="14">
                  <c:v>986</c:v>
                </c:pt>
                <c:pt idx="15">
                  <c:v>1076</c:v>
                </c:pt>
                <c:pt idx="16">
                  <c:v>985</c:v>
                </c:pt>
                <c:pt idx="17">
                  <c:v>952</c:v>
                </c:pt>
                <c:pt idx="18">
                  <c:v>969</c:v>
                </c:pt>
                <c:pt idx="19">
                  <c:v>955</c:v>
                </c:pt>
                <c:pt idx="20">
                  <c:v>966</c:v>
                </c:pt>
                <c:pt idx="21">
                  <c:v>953</c:v>
                </c:pt>
                <c:pt idx="22">
                  <c:v>975</c:v>
                </c:pt>
                <c:pt idx="23">
                  <c:v>937</c:v>
                </c:pt>
                <c:pt idx="24">
                  <c:v>885</c:v>
                </c:pt>
                <c:pt idx="25">
                  <c:v>892</c:v>
                </c:pt>
                <c:pt idx="26">
                  <c:v>910</c:v>
                </c:pt>
                <c:pt idx="27">
                  <c:v>907</c:v>
                </c:pt>
                <c:pt idx="28">
                  <c:v>894</c:v>
                </c:pt>
                <c:pt idx="29">
                  <c:v>863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Sessioni settembre 2025</c:v>
                </c:pt>
              </c:strCache>
            </c:strRef>
          </c:tx>
          <c:spPr>
            <a:solidFill>
              <a:srgbClr val="CCCCCC"/>
            </a:solidFill>
            <a:ln w="3175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604</c:v>
                </c:pt>
                <c:pt idx="1">
                  <c:v>627</c:v>
                </c:pt>
                <c:pt idx="2">
                  <c:v>520</c:v>
                </c:pt>
                <c:pt idx="3">
                  <c:v>556</c:v>
                </c:pt>
                <c:pt idx="4">
                  <c:v>506</c:v>
                </c:pt>
                <c:pt idx="5">
                  <c:v>474</c:v>
                </c:pt>
                <c:pt idx="6">
                  <c:v>380</c:v>
                </c:pt>
                <c:pt idx="7">
                  <c:v>556</c:v>
                </c:pt>
                <c:pt idx="8">
                  <c:v>579</c:v>
                </c:pt>
                <c:pt idx="9">
                  <c:v>583</c:v>
                </c:pt>
                <c:pt idx="10">
                  <c:v>539</c:v>
                </c:pt>
                <c:pt idx="11">
                  <c:v>535</c:v>
                </c:pt>
                <c:pt idx="12">
                  <c:v>501</c:v>
                </c:pt>
                <c:pt idx="13">
                  <c:v>433</c:v>
                </c:pt>
                <c:pt idx="14">
                  <c:v>533</c:v>
                </c:pt>
                <c:pt idx="15">
                  <c:v>592</c:v>
                </c:pt>
                <c:pt idx="16">
                  <c:v>573</c:v>
                </c:pt>
                <c:pt idx="17">
                  <c:v>599</c:v>
                </c:pt>
                <c:pt idx="18">
                  <c:v>559</c:v>
                </c:pt>
                <c:pt idx="19">
                  <c:v>448</c:v>
                </c:pt>
                <c:pt idx="20">
                  <c:v>410</c:v>
                </c:pt>
                <c:pt idx="21">
                  <c:v>595</c:v>
                </c:pt>
                <c:pt idx="22">
                  <c:v>522</c:v>
                </c:pt>
                <c:pt idx="23">
                  <c:v>610</c:v>
                </c:pt>
                <c:pt idx="24">
                  <c:v>539</c:v>
                </c:pt>
                <c:pt idx="25">
                  <c:v>536</c:v>
                </c:pt>
                <c:pt idx="26">
                  <c:v>477</c:v>
                </c:pt>
                <c:pt idx="27">
                  <c:v>411</c:v>
                </c:pt>
                <c:pt idx="28">
                  <c:v>602</c:v>
                </c:pt>
                <c:pt idx="29">
                  <c:v>540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Figtre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Figtre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Figtree"/>
              <a:cs typeface="Figtree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Paid Search</c:v>
                  </c:pt>
                  <c:pt idx="1">
                    <c:v>Paid Social</c:v>
                  </c:pt>
                  <c:pt idx="2">
                    <c:v>Cross-net.</c:v>
                  </c:pt>
                  <c:pt idx="3">
                    <c:v>Org. Search</c:v>
                  </c:pt>
                  <c:pt idx="4">
                    <c:v>Direct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8129</c:v>
                </c:pt>
                <c:pt idx="1">
                  <c:v>5933</c:v>
                </c:pt>
                <c:pt idx="2">
                  <c:v>3917</c:v>
                </c:pt>
                <c:pt idx="3">
                  <c:v>4271</c:v>
                </c:pt>
                <c:pt idx="4">
                  <c:v>1914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Paid Search</c:v>
                  </c:pt>
                  <c:pt idx="1">
                    <c:v>Paid Social</c:v>
                  </c:pt>
                  <c:pt idx="2">
                    <c:v>Cross-net.</c:v>
                  </c:pt>
                  <c:pt idx="3">
                    <c:v>Org. Search</c:v>
                  </c:pt>
                  <c:pt idx="4">
                    <c:v>Direct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3876</c:v>
                </c:pt>
                <c:pt idx="1">
                  <c:v>4676</c:v>
                </c:pt>
                <c:pt idx="2">
                  <c:v>19</c:v>
                </c:pt>
                <c:pt idx="3">
                  <c:v>4448</c:v>
                </c:pt>
                <c:pt idx="4">
                  <c:v>2009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Figtre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Figtre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Figtree"/>
              <a:cs typeface="Figtree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Search Generic</c:v>
                  </c:pt>
                  <c:pt idx="1">
                    <c:v>DG Traffico</c:v>
                  </c:pt>
                  <c:pt idx="2">
                    <c:v>DG Lead Gen</c:v>
                  </c:pt>
                  <c:pt idx="3">
                    <c:v>Brand Product</c:v>
                  </c:pt>
                  <c:pt idx="4">
                    <c:v>Brand Prot.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2827</c:v>
                </c:pt>
                <c:pt idx="1">
                  <c:v>1251</c:v>
                </c:pt>
                <c:pt idx="2">
                  <c:v>636</c:v>
                </c:pt>
                <c:pt idx="3">
                  <c:v>240</c:v>
                </c:pt>
                <c:pt idx="4">
                  <c:v>239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Search Generic</c:v>
                  </c:pt>
                  <c:pt idx="1">
                    <c:v>DG Traffico</c:v>
                  </c:pt>
                  <c:pt idx="2">
                    <c:v>DG Lead Gen</c:v>
                  </c:pt>
                  <c:pt idx="3">
                    <c:v>Brand Product</c:v>
                  </c:pt>
                  <c:pt idx="4">
                    <c:v>Brand Prot.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2153</c:v>
                </c:pt>
                <c:pt idx="1">
                  <c:v>0</c:v>
                </c:pt>
                <c:pt idx="2">
                  <c:v>0</c:v>
                </c:pt>
                <c:pt idx="3">
                  <c:v>210</c:v>
                </c:pt>
                <c:pt idx="4">
                  <c:v>210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Figtre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solidFill>
                <a:srgbClr val="595959"/>
              </a:solidFill>
              <a:latin typeface="Figtree"/>
              <a:cs typeface="Figtree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91919"/>
                    </a:solidFill>
                    <a:latin typeface="Figtre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Set 2026</c:v>
                  </c:pt>
                  <c:pt idx="1">
                    <c:v>Set 2025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1653</c:v>
                </c:pt>
                <c:pt idx="1">
                  <c:v>1354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91919"/>
                  </a:solidFill>
                  <a:latin typeface="Figtre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Figtre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9144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FERRERO</a:t>
            </a:r>
            <a:endParaRPr lang="en-US" sz="5600" dirty="0"/>
          </a:p>
          <a:p>
            <a:pPr indent="0" marL="0">
              <a:lnSpc>
                <a:spcPct val="8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LEGNO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08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7777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DESIGN TO BE OPEN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Report settembre 2026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12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13 ottobre 2026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608076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6035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28600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Andamento e risultati</a:t>
            </a:r>
            <a:endParaRPr lang="en-US" sz="3800" dirty="0"/>
          </a:p>
          <a:p>
            <a:pPr indent="0" marL="0">
              <a:buNone/>
            </a:pPr>
            <a:r>
              <a:rPr lang="en-US" sz="3800" i="1" dirty="0">
                <a:solidFill>
                  <a:srgbClr val="888888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2026.</a:t>
            </a:r>
            <a:endParaRPr lang="en-US" sz="3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PANORAMICA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Forte crescita delle sessioni a settembre: +59% rispetto al 2025, trainata dai canali paid</a:t>
            </a:r>
            <a:endParaRPr lang="en-US" sz="2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54480"/>
          <a:ext cx="7315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55448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4F5F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366760" y="1691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</a:t>
            </a:r>
            <a:endParaRPr lang="en-US" sz="700" dirty="0"/>
          </a:p>
        </p:txBody>
      </p:sp>
      <p:sp>
        <p:nvSpPr>
          <p:cNvPr id="7" name="Text 4"/>
          <p:cNvSpPr txBox="1"/>
          <p:nvPr/>
        </p:nvSpPr>
        <p:spPr>
          <a:xfrm>
            <a:off x="8366760" y="1920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25.691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366760" y="23774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+59,4%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6060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16.115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229600" y="329184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4F5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366760" y="3429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UTENTI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8366760" y="36576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18.350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366760" y="4114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+69,7%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366760" y="43434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10.814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10195560" y="155448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4F5F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332720" y="1691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VISUALIZZAZIONI</a:t>
            </a:r>
            <a:endParaRPr lang="en-US" sz="7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0" y="1920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84.993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0" y="23774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+9,1%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0" y="26060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77.872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195560" y="3291840"/>
            <a:ext cx="1828800" cy="1554480"/>
          </a:xfrm>
          <a:prstGeom prst="roundRect">
            <a:avLst>
              <a:gd name="adj" fmla="val 5882"/>
            </a:avLst>
          </a:prstGeom>
          <a:solidFill>
            <a:srgbClr val="F4F5F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332720" y="3429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TASSO COINVOLGIMENTO</a:t>
            </a:r>
            <a:endParaRPr lang="en-US" sz="700" dirty="0"/>
          </a:p>
        </p:txBody>
      </p:sp>
      <p:sp>
        <p:nvSpPr>
          <p:cNvPr id="22" name="Text 19"/>
          <p:cNvSpPr txBox="1"/>
          <p:nvPr/>
        </p:nvSpPr>
        <p:spPr>
          <a:xfrm>
            <a:off x="10332720" y="36576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86,0%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10332720" y="4114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-0,1pp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0332720" y="43434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86,1%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53035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Nonostante un avvio lento nella prima settimana, le sessioni hanno raggiunto picchi sopra le 1.000 sessioni/giorno dalla seconda settimana in poi, con un trend stabile e superiore al 2025.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 analizzato: set 2026 YoY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PAID | PANORAMICA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paid guida il 70% del traffico totale, con Paid Search e Cross-network in fortissima crescita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6858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5720"/>
                <a:gridCol w="1097280"/>
                <a:gridCol w="822960"/>
                <a:gridCol w="1097280"/>
                <a:gridCol w="822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Canale di traffico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Sessioni 2026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% sul tot.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Sessioni 2025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Paid Search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8.129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31,6%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3.876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+109,7%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Paid Social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5.933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23,1%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4.676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+26,9%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Cross-network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3.917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15,2%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+20.516%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Organic Search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4.271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16,6%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4.448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Direct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1.914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2.009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Organic Social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410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-42,9%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Altro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1.293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677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+91,0%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complessivo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25.691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16.115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+59,4%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7589520" y="1554480"/>
          <a:ext cx="41148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Forte crescita generale delle sessioni da Paid Search (+110%).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 generale il paid porta il 70% del traffico totale. Cross-network e Organic Social: menzione particolare al canale in cui confluiscono campagne Demand Gen, PMax, YouTube e Display, cresciuto enormemente rispetto allo scorso anno.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 analizzato: set 2026 YoY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PANORAMICA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traffico organico continua il trend di calo YoY, con clic in diminuzione e impression in lieve crescita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5.391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-18%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6.593 set 2025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123.803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+1,7%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121.681 set 2025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12648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 MEDIO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4,35%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-1,07pp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5,42% set 2025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96112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POSIZIONE MEDIA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11,9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 pos.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15,9 set 2025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06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Rispetto all'anno precedente registriamo un calo dei clic organici (-18%), nonostante le impression siano leggermente in crescita (+1,7%). </a:t>
            </a:r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 e posizione media migliorano rispettivamente a 4,35% e 11,9,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segno che il posizionamento del sito migliora ma il volume complessivo di ricerche cala, in linea con il trend di settore. L'erosione del CTR da AI Overview e il calo delle ricerche di brand continuano a incidere.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 - IT | Periodo analizzato: set 2026 YoY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FOCUS ADVERTISING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consolida la crescita con CPC in calo, Meta mantiene i volumi con investimento stabile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F4F5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e il primo canale paid per traffico al sito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26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44.231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2926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+465%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4290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465.037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36118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+552%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1148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297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5.193 €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4297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+102%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8006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983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0,12 €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65176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-64%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164592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F4F5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224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mantiene i volumi con CTR in miglioramento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27432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2926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12.970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2926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-6,7%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4290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663.579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36118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-8,0%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41148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4297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3.826 €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42976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+10,6%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8006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4983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0,30 €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41248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+18,5%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Ads, Meta Ads | Periodo analizzato: set 2026 YoY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 | DETTAGLIO CAMPAGNE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 e Search Generic sono i principali driver di crescita, con CPC contenuti</a:t>
            </a:r>
            <a:endParaRPr lang="en-US" sz="2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371600"/>
                <a:gridCol w="1097280"/>
                <a:gridCol w="1371600"/>
                <a:gridCol w="1097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Campagna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Impression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CTR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Costo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CPC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Generic (Consideration)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17.384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92.951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18,7%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2.827 €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DG Consideration Traffico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19.737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295.383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1.251 €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DG Conversion Lead Gen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2.288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64.777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636 €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0,28 €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Brand Product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1.911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5.122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37,3%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240 €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Brand Protection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2.911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6.804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42,8%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44.231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465.037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5.193 €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5720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YoY: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 clic complessivi crescono del +465% con un investimento che raddoppia (+102%), ma il CPC medio scende del 64% (da 0,33 a 0,12 €). Le campagne Demand Gen, assenti nel 2025, portano da sole oltre 22.000 clic a costi molto contenuti.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5120640"/>
          <a:ext cx="11247120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 | Periodo analizzato: set 2026 YoY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 | DETTAGLIO CAMPAGNE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e Lead Generation rivenditori concentrano la maggior parte dell'investimento Meta</a:t>
            </a:r>
            <a:endParaRPr lang="en-US" sz="2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097280"/>
                <a:gridCol w="109728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Campagna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Link clic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CTR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CPC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Spesa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Lead Gen Rivenditori DEF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2.308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1,92%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0,48 €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1.108 €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Blog Consideration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7.059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2,26%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0,15 €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1.061 €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FEEL5 B2B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575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572 €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Iscrizioni Area Pro B2B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491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0,87%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1,13 €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Promo PED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429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0,68 €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Store Locator B2C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2.108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2,01%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237 €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12.970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1,01%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0,30 €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3.826 €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campagna Blog (Consideration)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porta il volume maggiore di clic (7.059) con un CPC molto efficiente di 0,15 €. La campagna Lead Gen Rivenditori genera traffico qualificato con un CTR del 1,92%. Store Locator si conferma efficiente con CPC di 0,11 €.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 | Periodo analizzato: set 2026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DETTAGLIO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e impression globali: la posizione migliora ma il CTR scende per effetto AI Overview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DATI GLOBALI (TUTTI I PAESI)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201168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6.738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432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-13,3%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9202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37560" y="201168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220.993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337560" y="27432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+12,1%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0" y="19202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201168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3,05%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080760" y="27432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-0,89pp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0" y="19202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823960" y="201168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POSIZIONE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82396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10,3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8823960" y="27432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 pos.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566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DATI ITALIA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93192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40233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297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5.391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7548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-18,2%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37560" y="40233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337560" y="4297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123.803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3337560" y="47548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+1,7%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943600" y="393192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080760" y="40233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080760" y="4297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4,35%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47548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-1,07pp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686800" y="393192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4F5F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823960" y="40233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POSIZIONE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8823960" y="4297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11,9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8823960" y="47548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 pos.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54864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L'Italia pesa per l'80% dei clic organici. Nonostante il miglioramento della posizione media (da 15,9 a 11,9), i clic calano per effetto combinato della contrazione della domanda di settore, dell'erosione del CTR da AI Overview e del calo delle ricerche di brand.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 | Periodo analizzato: set 2026 YoY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PANORAMICA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lead totali da sito raddoppiano YoY, trainate dalle landing rivenditori e dalle nuove campagne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Tipologia form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2025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Form contatto generico (generate_lead)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193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+19,7%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Invii form landing rivenditori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155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nuovo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Richieste informazioni prodotto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84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nuovo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Download magazine FEEL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-49,3%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Registrazione Area Pro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+37,5%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Form contatto sito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-13,6%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 iscrizione professionisti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+7,1%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eventi lead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680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322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+111%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846320"/>
            <a:ext cx="5303520" cy="9144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48920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TOTALI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074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680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2103120" y="5074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+111%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120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322 set 2025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6217920" y="4846320"/>
            <a:ext cx="5303520" cy="9144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0" y="48920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REGISTRAZIONI PRO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5074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33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5074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+37,5%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0" y="5120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24 set 2025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 analizzato: set 2026 YoY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FOCUS RIVENDITORI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campagne Lead Gen rivenditori generano 155 invii form dalla landing, con Google e Meta come driver principali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394960" cy="4389120"/>
          </a:xfrm>
          <a:prstGeom prst="roundRect">
            <a:avLst>
              <a:gd name="adj" fmla="val 2083"/>
            </a:avLst>
          </a:prstGeom>
          <a:solidFill>
            <a:srgbClr val="F4F5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Risultati Google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DG Conversion Lead Gen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CONVERSIONI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~21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3375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CPL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520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~30 €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9319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14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64.777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5262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709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2.288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1206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636 €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17920" y="1645920"/>
            <a:ext cx="5394960" cy="4389120"/>
          </a:xfrm>
          <a:prstGeom prst="roundRect">
            <a:avLst>
              <a:gd name="adj" fmla="val 2083"/>
            </a:avLst>
          </a:prstGeom>
          <a:solidFill>
            <a:srgbClr val="F4F5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9224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Risultati Meta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Lead Gen Rivenditori DEF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27432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INVII FORM LP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155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(da tutte le sorgenti)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375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520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36.082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9319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4114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2.308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45262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4709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1,92%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51206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1.108 €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Ads, Meta Ads, GA4 | Periodo analizzato: set 2026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Focus Magazine.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MAGAZINE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magazine registra un calo dei clic organici, ma la posizione media migliora notevolmente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92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-21,4%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117 set 2025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8.267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-17,1%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9.969 set 2025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12648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 MEDIO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1,11%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-0,06pp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1,17% set 2025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961120" y="164592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4F5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POSIZIONE MEDIA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2148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8,7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2834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+10,7 pos.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19,4 set 2025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06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magazine registra un miglioramento della posizione media molto significativo (da 19,4 a 8,7, +10,7 posizioni).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Tuttavia, i clic diminuiscono del 21% per effetto della contrazione delle impression (-17%). L'erosione del CTR da AI Overview continua a incidere particolarmente sui contenuti informativi del magazine. I download del magazine FEEL calano del 49% rispetto a settembre 2025 (35 vs 69).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 | Periodo analizzato: set 2026 YoY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PAID | MAGAZINE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campagna Blog Consideration porta 7.059 clic al magazine con un CPC molto efficiente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47120" cy="3657600"/>
          </a:xfrm>
          <a:prstGeom prst="roundRect">
            <a:avLst>
              <a:gd name="adj" fmla="val 2500"/>
            </a:avLst>
          </a:prstGeom>
          <a:solidFill>
            <a:srgbClr val="F4F5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Blog Consideration (Meta Ads)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94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Obiettivo: traffico qualificato verso gli articoli del magazine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34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7.059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2834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PERSONE RAGGIUNTE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136.533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834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2,26%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2834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0,15 €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0" y="2834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1.061 €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al magazine da GA4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206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Nuovo magazine FEEL5 (landing)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4206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445 sessioni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805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Magazine FEEL (indice)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0" y="4480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117 sessioni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Download magazine FEEL5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37 sessioni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0292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Magazine FEEL4 (landing)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5029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26 sessioni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Ads, GA4 | Periodo analizzato: set 2026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si conferma un canale che porta traffico qualificato al sito, con sessioni in crescita del 22%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5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SET 2026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94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1.653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783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SET 2025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194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1.354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8321040" y="164592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F4F5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03920" y="1783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VARIAZIONE YOY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21945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+22,1%</a:t>
            </a:r>
            <a:endParaRPr lang="en-US" sz="4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57200" y="3840480"/>
          <a:ext cx="1124712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 analizzato: set 2026 YoY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 chiusura.</a:t>
            </a:r>
            <a:endParaRPr lang="en-US" sz="3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RIEPILOGO | SETTEMBRE 2026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Punti chiave e considerazioni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447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CRESCITA TRAFFICO PAID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459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sessioni totali crescono del 59% YoY, trainate dall'investimento paid. I canali a pagamento portano il 70% del traffico complessivo. Search Generic (+353%) e le nuove campagne Demand Gen guidano la crescita con CPC molto efficiente (0,06-0,16 €).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4505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6517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lead totali raddoppiano: 680 eventi lead vs 322 del 2025 (+111%). La campagna Lead Gen Rivenditori genera 155 invii form, con Google e Meta come driver principali. Le registrazioni Area Pro crescono del 37,5% (33 vs 24).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345643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CALO ORGANICO E MAGAZINE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6576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traffico organico cala (-18% clic IT), per contrazione della domanda, AI Overview e calo ricerche brand. La posizione media migliora (da 15,9 a 11,9). Il magazine guadagna 10,7 posizioni (da 19,4 a 8,7) ma perde clic (-21%). Pinterest cresce del 22% (1.653 sessioni).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4F5F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4622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 E ADVERTISING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6634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Consideration porta 7.059 clic a CPC 0,15 €. Google Ads quadruplica i clic (+465%) con CPC in calo del 64%. Investimento complessivo: 5.193 € Google + 3.826 € Meta = 9.019 € totali.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0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54681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PROSSIMI PASSI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Definire i filoni da veicolare nelle campagne DG Traffico. Monitorare l'impatto di AI Overview sui contenuti del magazine. Valutare l'allocazione del budget sui canali paid in vista della stagione autunnale.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0" y="731520"/>
            <a:ext cx="548640" cy="54864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754880" y="731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Federico Rugger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86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Project Account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14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federico.rugger@mocainteractive.com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Valeria Pompili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66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Digital Advertising Specialist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794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valeria.pompili@mocainteractive.com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Daniele Bertini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Digital Analytics Specialist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074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daniele.bertini@mocainteractive.com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Alessio Trombone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286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Digital Advertising Specialist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2514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alessio.trombone@mocainteractive.com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Tommaso Minello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566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SEO Specialist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794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tommaso.minello@mocainteractive.com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 Interactive S.r.l. Societa Benefit | Via Cernaia, 2 - 35141 Padova | P.IVA 04230520287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1292840" y="635508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539728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errero Legno Report">
  <a:themeElements>
    <a:clrScheme name="Ferrero Legno Report">
      <a:dk1>
        <a:srgbClr val="191919"/>
      </a:dk1>
      <a:lt1>
        <a:srgbClr val="FFFFFF"/>
      </a:lt1>
      <a:dk2>
        <a:srgbClr val="595959"/>
      </a:dk2>
      <a:lt2>
        <a:srgbClr val="F4F5F6"/>
      </a:lt2>
      <a:accent1>
        <a:srgbClr val="E52217"/>
      </a:accent1>
      <a:accent2>
        <a:srgbClr val="118541"/>
      </a:accent2>
      <a:accent3>
        <a:srgbClr val="5781FF"/>
      </a:accent3>
      <a:accent4>
        <a:srgbClr val="551FC4"/>
      </a:accent4>
      <a:accent5>
        <a:srgbClr val="CE2A59"/>
      </a:accent5>
      <a:accent6>
        <a:srgbClr val="DB5E29"/>
      </a:accent6>
      <a:hlink>
        <a:srgbClr val="E52217"/>
      </a:hlink>
      <a:folHlink>
        <a:srgbClr val="CE2A59"/>
      </a:folHlink>
    </a:clrScheme>
    <a:fontScheme name="Ferrero Legno Report">
      <a:majorFont>
        <a:latin typeface="Figtre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moca interactive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Ferrero Legno - Report Settembre 2026</dc:title>
  <dc:subject>Report mensile settembre 2026</dc:subject>
  <dc:creator>moca interactive</dc:creator>
  <cp:lastModifiedBy>moca interactive</cp:lastModifiedBy>
  <cp:revision>1</cp:revision>
  <dcterms:created xsi:type="dcterms:W3CDTF">2026-10-13T10:01:17Z</dcterms:created>
  <dcterms:modified xsi:type="dcterms:W3CDTF">2026-10-13T10:01:17Z</dcterms:modified>
</cp:coreProperties>
</file>