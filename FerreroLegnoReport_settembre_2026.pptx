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ef0b8b8b-a6ea-407b-54d2-5650dd4685f8}">
          <p14:sldIdLst>
            <p14:sldId id="256"/>
          </p14:sldIdLst>
        </p14:section>
        <p14:section name="Andamento e risultati" id="{dcc1baca-2cef-74e9-b6be-bac7e00f55ff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Lead Generation" id="{0a22a415-e55c-947f-3084-9b9d85481f20}">
          <p14:sldIdLst>
            <p14:sldId id="265"/>
            <p14:sldId id="266"/>
          </p14:sldIdLst>
        </p14:section>
        <p14:section name="Focus Magazine" id="{cdfcd327-0e6f-9867-ee3e-8274c207a52e}">
          <p14:sldIdLst>
            <p14:sldId id="267"/>
            <p14:sldId id="268"/>
            <p14:sldId id="269"/>
          </p14:sldIdLst>
        </p14:section>
        <p14:section name="Pinterest" id="{3fba6989-5023-a8ae-415a-567d2e8c8a82}">
          <p14:sldIdLst>
            <p14:sldId id="270"/>
          </p14:sldIdLst>
        </p14:section>
        <p14:section name="In chiusura" id="{d504f03f-1197-5270-0f4a-91c40b0e278b}">
          <p14:sldIdLst>
            <p14:sldId id="271"/>
            <p14:sldId id="272"/>
          </p14:sldIdLst>
        </p14:section>
        <p14:section name="Contatti" id="{0d4594fb-b417-f1d5-0e6e-da16dfe6079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Sessioni settembre 2026</c:v>
                </c:pt>
              </c:strCache>
            </c:strRef>
          </c:tx>
          <c:spPr>
            <a:solidFill>
              <a:srgbClr val="E52217"/>
            </a:solidFill>
            <a:ln w="31750" cap="flat">
              <a:solidFill>
                <a:srgbClr val="E522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2217"/>
              </a:solidFill>
              <a:ln w="9525" cap="flat">
                <a:solidFill>
                  <a:srgbClr val="E522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584</c:v>
                </c:pt>
                <c:pt idx="1">
                  <c:v>702</c:v>
                </c:pt>
                <c:pt idx="2">
                  <c:v>633</c:v>
                </c:pt>
                <c:pt idx="3">
                  <c:v>656</c:v>
                </c:pt>
                <c:pt idx="4">
                  <c:v>564</c:v>
                </c:pt>
                <c:pt idx="5">
                  <c:v>521</c:v>
                </c:pt>
                <c:pt idx="6">
                  <c:v>623</c:v>
                </c:pt>
                <c:pt idx="7">
                  <c:v>620</c:v>
                </c:pt>
                <c:pt idx="8">
                  <c:v>941</c:v>
                </c:pt>
                <c:pt idx="9">
                  <c:v>935</c:v>
                </c:pt>
                <c:pt idx="10">
                  <c:v>1046</c:v>
                </c:pt>
                <c:pt idx="11">
                  <c:v>938</c:v>
                </c:pt>
                <c:pt idx="12">
                  <c:v>1024</c:v>
                </c:pt>
                <c:pt idx="13">
                  <c:v>938</c:v>
                </c:pt>
                <c:pt idx="14">
                  <c:v>986</c:v>
                </c:pt>
                <c:pt idx="15">
                  <c:v>1076</c:v>
                </c:pt>
                <c:pt idx="16">
                  <c:v>985</c:v>
                </c:pt>
                <c:pt idx="17">
                  <c:v>952</c:v>
                </c:pt>
                <c:pt idx="18">
                  <c:v>969</c:v>
                </c:pt>
                <c:pt idx="19">
                  <c:v>955</c:v>
                </c:pt>
                <c:pt idx="20">
                  <c:v>966</c:v>
                </c:pt>
                <c:pt idx="21">
                  <c:v>953</c:v>
                </c:pt>
                <c:pt idx="22">
                  <c:v>975</c:v>
                </c:pt>
                <c:pt idx="23">
                  <c:v>937</c:v>
                </c:pt>
                <c:pt idx="24">
                  <c:v>885</c:v>
                </c:pt>
                <c:pt idx="25">
                  <c:v>892</c:v>
                </c:pt>
                <c:pt idx="26">
                  <c:v>910</c:v>
                </c:pt>
                <c:pt idx="27">
                  <c:v>907</c:v>
                </c:pt>
                <c:pt idx="28">
                  <c:v>894</c:v>
                </c:pt>
                <c:pt idx="29">
                  <c:v>863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Sessioni settembre 2025</c:v>
                </c:pt>
              </c:strCache>
            </c:strRef>
          </c:tx>
          <c:spPr>
            <a:solidFill>
              <a:srgbClr val="CCCCCC"/>
            </a:solidFill>
            <a:ln w="3175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604</c:v>
                </c:pt>
                <c:pt idx="1">
                  <c:v>627</c:v>
                </c:pt>
                <c:pt idx="2">
                  <c:v>520</c:v>
                </c:pt>
                <c:pt idx="3">
                  <c:v>556</c:v>
                </c:pt>
                <c:pt idx="4">
                  <c:v>506</c:v>
                </c:pt>
                <c:pt idx="5">
                  <c:v>474</c:v>
                </c:pt>
                <c:pt idx="6">
                  <c:v>380</c:v>
                </c:pt>
                <c:pt idx="7">
                  <c:v>556</c:v>
                </c:pt>
                <c:pt idx="8">
                  <c:v>579</c:v>
                </c:pt>
                <c:pt idx="9">
                  <c:v>583</c:v>
                </c:pt>
                <c:pt idx="10">
                  <c:v>539</c:v>
                </c:pt>
                <c:pt idx="11">
                  <c:v>535</c:v>
                </c:pt>
                <c:pt idx="12">
                  <c:v>501</c:v>
                </c:pt>
                <c:pt idx="13">
                  <c:v>433</c:v>
                </c:pt>
                <c:pt idx="14">
                  <c:v>533</c:v>
                </c:pt>
                <c:pt idx="15">
                  <c:v>592</c:v>
                </c:pt>
                <c:pt idx="16">
                  <c:v>573</c:v>
                </c:pt>
                <c:pt idx="17">
                  <c:v>599</c:v>
                </c:pt>
                <c:pt idx="18">
                  <c:v>559</c:v>
                </c:pt>
                <c:pt idx="19">
                  <c:v>448</c:v>
                </c:pt>
                <c:pt idx="20">
                  <c:v>410</c:v>
                </c:pt>
                <c:pt idx="21">
                  <c:v>595</c:v>
                </c:pt>
                <c:pt idx="22">
                  <c:v>522</c:v>
                </c:pt>
                <c:pt idx="23">
                  <c:v>610</c:v>
                </c:pt>
                <c:pt idx="24">
                  <c:v>539</c:v>
                </c:pt>
                <c:pt idx="25">
                  <c:v>536</c:v>
                </c:pt>
                <c:pt idx="26">
                  <c:v>477</c:v>
                </c:pt>
                <c:pt idx="27">
                  <c:v>411</c:v>
                </c:pt>
                <c:pt idx="28">
                  <c:v>602</c:v>
                </c:pt>
                <c:pt idx="29">
                  <c:v>540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Figtree"/>
              <a:cs typeface="Figtree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Org. Search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Org. Search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3876</c:v>
                </c:pt>
                <c:pt idx="1">
                  <c:v>4676</c:v>
                </c:pt>
                <c:pt idx="2">
                  <c:v>19</c:v>
                </c:pt>
                <c:pt idx="3">
                  <c:v>4448</c:v>
                </c:pt>
                <c:pt idx="4">
                  <c:v>2009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Figtree"/>
              <a:cs typeface="Figtree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Search Generic</c:v>
                  </c:pt>
                  <c:pt idx="1">
                    <c:v>DG Traffico</c:v>
                  </c:pt>
                  <c:pt idx="2">
                    <c:v>DG Lead Gen</c:v>
                  </c:pt>
                  <c:pt idx="3">
                    <c:v>Brand Product</c:v>
                  </c:pt>
                  <c:pt idx="4">
                    <c:v>Brand Prot.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2827</c:v>
                </c:pt>
                <c:pt idx="1">
                  <c:v>1251</c:v>
                </c:pt>
                <c:pt idx="2">
                  <c:v>636</c:v>
                </c:pt>
                <c:pt idx="3">
                  <c:v>240</c:v>
                </c:pt>
                <c:pt idx="4">
                  <c:v>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Search Generic</c:v>
                  </c:pt>
                  <c:pt idx="1">
                    <c:v>DG Traffico</c:v>
                  </c:pt>
                  <c:pt idx="2">
                    <c:v>DG Lead Gen</c:v>
                  </c:pt>
                  <c:pt idx="3">
                    <c:v>Brand Product</c:v>
                  </c:pt>
                  <c:pt idx="4">
                    <c:v>Brand Prot.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2153</c:v>
                </c:pt>
                <c:pt idx="1">
                  <c:v>0</c:v>
                </c:pt>
                <c:pt idx="2">
                  <c:v>0</c:v>
                </c:pt>
                <c:pt idx="3">
                  <c:v>210</c:v>
                </c:pt>
                <c:pt idx="4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solidFill>
                <a:srgbClr val="595959"/>
              </a:solidFill>
              <a:latin typeface="Figtree"/>
              <a:cs typeface="Figtree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1919"/>
                    </a:solidFill>
                    <a:latin typeface="Figtre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Set 2026</c:v>
                  </c:pt>
                  <c:pt idx="1">
                    <c:v>Set 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1653</c:v>
                </c:pt>
                <c:pt idx="1">
                  <c:v>1354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91919"/>
                  </a:solidFill>
                  <a:latin typeface="Figtre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FERRERO</a:t>
            </a:r>
            <a:endParaRPr lang="en-US" sz="56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LEGNO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DESIGN TO BE OPEN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 settembre 2026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 ottobre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608076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Andamento e risultati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PANORAMICA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delle sessioni a settembre: +59% rispetto al 2025, trainata dai canali paid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7315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55448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4F5F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66760" y="1691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7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1920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25.691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366760" y="2377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+59,4%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16.115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229600" y="329184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4F5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66760" y="3429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UTENTI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3657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18.350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4114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+69,7%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43434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10.814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10195560" y="155448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4F5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332720" y="1691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VISUALIZZAZIONI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1920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84.993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0" y="2377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+9,1%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0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77.872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195560" y="329184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4F5F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0" y="3429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TASSO COINVOLGIMENTO</a:t>
            </a:r>
            <a:endParaRPr lang="en-US" sz="70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0" y="3657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86,0%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10332720" y="4114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-0,1pp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0332720" y="43434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86,1%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53035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Nonostante un avvio lento nella prima settimana, le sessioni hanno raggiunto picchi sopra le 1.000 sessioni/giorno dalla seconda settimana in poi, con un trend stabile e superiore al 2025.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 analizzato: set 2026 YoY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PANORAMICA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paid guida il 70% del traffico totale, con Paid Search e Cross-network in fortissima crescita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6858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5720"/>
                <a:gridCol w="1097280"/>
                <a:gridCol w="822960"/>
                <a:gridCol w="109728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 di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Sessioni 2026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% sul tot.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Sessioni 2025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Paid Search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8.129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31,6%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3.876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+109,7%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Paid Social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5.933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23,1%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4.676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+26,9%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Cross-network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3.917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15,2%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+20.516%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 Search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4.271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4.448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Direct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2.009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 Social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410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-42,9%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Altro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1.293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+91,0%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complessivo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25.691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16.115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+59,4%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589520" y="1554480"/>
          <a:ext cx="4114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generale delle sessioni da Paid Search (+110%).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generale il paid porta il 70% del traffico totale. Cross-network e Organic Social: menzione particolare al canale in cui confluiscono campagne Demand Gen, PMax, YouTube e Display, cresciuto enormemente rispetto allo scorso anno.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 analizzato: set 2026 YoY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PANORAMICA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organico continua il trend di calo YoY, con clic in diminuzione e impression in lieve crescita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5.391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6.593 set 2025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123.803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121.681 set 2025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4,35%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-1,07pp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5,42% set 2025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96112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11,9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 pos.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15,9 set 2025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06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Rispetto all'anno precedente registriamo un calo dei clic organici (-18%), nonostante le impression siano leggermente in crescita (+1,7%). </a:t>
            </a:r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e posizione media migliorano rispettivamente a 4,35% e 11,9,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segno che il posizionamento del sito migliora ma il volume complessivo di ricerche cala, in linea con il trend di settore. L'erosione del CTR da AI Overview e il calo delle ricerche di brand continuano a incidere.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- IT | Periodo analizzato: set 2026 YoY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FOCUS ADVERTISING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consolida la crescita con CPC in calo, Meta mantiene i volumi con investimento stabile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e il primo canale paid per traffico al sito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926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429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465.037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611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+552%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148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297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4297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+102%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8006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983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65176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-64%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164592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mantiene i volumi con CTR in miglioramento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743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926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926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-6,7%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429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663.579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3611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-8,0%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41148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297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4297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+10,6%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8006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983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 | Periodo analizzato: set 2026 YoY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| DETTAGLIO CAMPAGNE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e Search Generic sono i principali driver di crescita, con CPC contenuti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371600"/>
                <a:gridCol w="1097280"/>
                <a:gridCol w="1371600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Impression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Generic (Consideration)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17.384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92.951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2.827 €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Consideration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19.737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295.383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1.251 €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Conversion Lead Gen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2.288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64.777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0,28 €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Product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37,3%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Protection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6.804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44.231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465.037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YoY: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clic complessivi crescono del +465% con un investimento che raddoppia (+102%), ma il CPC medio scende del 64% (da 0,33 a 0,12 €). Le campagne Demand Gen, assenti nel 2025, portano da sole oltre 22.000 clic a costi molto contenuti.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5120640"/>
          <a:ext cx="1124712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 | Periodo analizzato: set 2026 YoY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| DETTAGLIO CAMPAGNE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e Lead Generation rivenditori concentrano la maggior parte dell'investimento Meta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097280"/>
                <a:gridCol w="109728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Link 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Spesa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Gen Rivenditori DEF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2.308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0,48 €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1.108 €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Blog Consideration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7.059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2,26%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0,15 €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1.061 €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Iscrizioni Area Pro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0,87%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Promo PED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0,68 €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Store Locator B2C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2.108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12.970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0,30 €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(Consideration)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porta il volume maggiore di clic (7.059) con un CPC molto efficiente di 0,15 €. La campagna Lead Gen Rivenditori genera traffico qualificato con un CTR del 1,92%. Store Locator si conferma efficiente con CPC di 0,11 €.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 | Periodo analizzato: set 2026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DETTAGLIO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e impression globali: la posizione migliora ma il CTR scende per effetto AI Overview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DATI GLOBALI (TUTTI I PAESI)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2011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6.738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43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-13,3%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9202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37560" y="2011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220.993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2743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+12,1%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9202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2011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3,05%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080760" y="2743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-0,89pp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19202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23960" y="2011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82396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10,3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2743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 pos.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DATI ITALIA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40233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5.391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-18,2%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37560" y="40233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33756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123.803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333756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943600" y="39319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080760" y="40233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08076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4,35%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-1,07pp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686800" y="39319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823960" y="40233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882396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11,9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882396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 pos.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5486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L'Italia pesa per l'80% dei clic organici. Nonostante il miglioramento della posizione media (da 15,9 a 11,9), i clic calano per effetto combinato della contrazione della domanda di settore, dell'erosione del CTR da AI Overview e del calo delle ricerche di brand.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| Periodo analizzato: set 2026 YoY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PANORAMICA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nuova landing rivenditori porta 215 preventivi, compensando il calo delle lead tradizionali (-24,5%)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Tipologia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Fonte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Preventivo LP (landing rivenditori)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Info prodotto (totale)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 + 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-39,0%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Registrazioni 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-45,5%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Form contatto (IT/EN/ES/FR)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Contatta PV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-13,8%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Newsletter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(escl.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-24,5%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(incl.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9496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54406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TOTALI (INCL. LP)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623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989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 2026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297680" y="539496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480560" y="54406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LP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5623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5623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480560" y="5989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landing rivenditori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8138160" y="539496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54406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5623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784080" y="5623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-24,5%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5989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323 set 2025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 analizzato: set 2026 YoY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FOCUS RIVENDITORI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landing rivenditori raccoglie 215 preventivi, con Google Ads e Meta Ads come driver principali del traffico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1188720"/>
          </a:xfrm>
          <a:prstGeom prst="roundRect">
            <a:avLst>
              <a:gd name="adj" fmla="val 7692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LANDING RIVENDITORI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compilati (fonte: HubSpot)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0" y="1920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canale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Google Ads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DG Conversion Lead Gen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148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4114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64.777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572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4572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2.288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029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5029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636 €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486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5486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0,28 €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301752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4F5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9224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Meta Ads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Rivenditori DEF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41148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4114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36.082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4572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572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2.308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5029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029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1.108 €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5486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5486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1,92%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Google Ads, Meta Ads | Periodo analizzato: set 2026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 Magazine.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MAGAZINE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registra un calo dei clic organici, ma la posizione media migliora notevolmente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92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-21,4%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117 set 2025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8.267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-17,1%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9.969 set 2025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1,11%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-0,06pp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1,17% set 2025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96112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8,7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+10,7 pos.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19,4 set 2025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06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registra un miglioramento della posizione media molto significativo (da 19,4 a 8,7, +10,7 posizioni).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Tuttavia, i clic diminuiscono del 21% per effetto della contrazione delle impression (-17%). L'erosione del CTR da AI Overview continua a incidere particolarmente sui contenuti informativi del magazine. I download del magazine FEEL calano del 49% rispetto a settembre 2025 (35 vs 69).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| Periodo analizzato: set 2026 YoY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MAGAZINE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Consideration porta 7.059 clic al magazine con un CPC molto efficiente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47120" cy="3657600"/>
          </a:xfrm>
          <a:prstGeom prst="roundRect">
            <a:avLst>
              <a:gd name="adj" fmla="val 2500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Blog Consideration (Meta Ads)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Obiettivo: traffico qualificato verso gli articoli del magazine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7.059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PERSONE RAGGIUNTE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136.533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2,26%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0,15 €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1.061 €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 magazine da GA4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206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magazine FEEL5 (landing)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445 sessioni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805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 FEEL (indice)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4480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117 sessioni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Download magazine FEEL5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37 sessioni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029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 FEEL4 (landing)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5029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26 sessioni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 analizzato: set 2026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si conferma un canale che porta traffico qualificato al sito, con sessioni in crescita del 22%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94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1.354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321040" y="16459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03920" y="1783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VARIAZIONE YOY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1945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+22,1%</a:t>
            </a:r>
            <a:endParaRPr lang="en-US" sz="4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57200" y="3840480"/>
          <a:ext cx="1124712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 analizzato: set 2026 YoY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chiusura.</a:t>
            </a:r>
            <a:endParaRPr lang="en-US" sz="3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SETTEMBRE 2026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Punti chiave e considerazioni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44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CRESCITA TRAFFICO PAID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459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sessioni totali crescono del 59% YoY, trainate dall'investimento paid. I canali a pagamento portano il 70% del traffico complessivo. Search Generic (+353%) e le nuove campagne Demand Gen guidano la crescita con CPC molto efficiente (0,06-0,16 €).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4505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nuova landing rivenditori porta 215 preventivi (nuovo canale). Le lead tradizionali calano del 24,5% (244 vs 323), in particolare FEEL5 (-45,5%) e info prodotto (-39%). Registrazioni area stabili (+1,8%). Totale lead incl. LP: 459.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45643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ORGANICO E MAGAZINE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organico cala (-18% clic IT), per contrazione della domanda, AI Overview e calo ricerche brand. La posizione media migliora (da 15,9 a 11,9). Il magazine guadagna 10,7 posizioni (da 19,4 a 8,7) ma perde clic (-21%). Pinterest cresce del 22% (1.653 sessioni).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4622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E ADVERTISING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663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porta 7.059 clic a CPC 0,15 €. Google Ads quadruplica i clic (+465%) con CPC in calo del 64%. Investimento complessivo: 5.193 € Google + 3.826 € Meta = 9.019 € totali.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0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54681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PROSSIMI PASSI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Definire i filoni da veicolare nelle campagne DG Traffico. Monitorare l'impatto di AI Overview sui contenuti del magazine. Valutare l'allocazione del budget sui canali paid in vista della stagione autunnale.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731520"/>
            <a:ext cx="548640" cy="54864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0" y="731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Federico Rugger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Project Account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federico.rugger@mocainteractive.com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Valeria Pompili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Advertising Specialist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valeria.pompili@mocainteractive.com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Daniele Bertini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Analytics Specialist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074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daniele.bertini@mocainteractive.com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Alessio Trombone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Advertising Specialist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alessio.trombone@mocainteractive.com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Tommaso Minello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Specialist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tommaso.minello@mocainteractive.com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 Interactive S.r.l. Societa Benefit | Via Cernaia, 2 - 35141 Padova | P.IVA 04230520287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errero Legno Report">
  <a:themeElements>
    <a:clrScheme name="Ferrero Legno Report">
      <a:dk1>
        <a:srgbClr val="191919"/>
      </a:dk1>
      <a:lt1>
        <a:srgbClr val="FFFFFF"/>
      </a:lt1>
      <a:dk2>
        <a:srgbClr val="595959"/>
      </a:dk2>
      <a:lt2>
        <a:srgbClr val="F4F5F6"/>
      </a:lt2>
      <a:accent1>
        <a:srgbClr val="E52217"/>
      </a:accent1>
      <a:accent2>
        <a:srgbClr val="118541"/>
      </a:accent2>
      <a:accent3>
        <a:srgbClr val="5781FF"/>
      </a:accent3>
      <a:accent4>
        <a:srgbClr val="551FC4"/>
      </a:accent4>
      <a:accent5>
        <a:srgbClr val="CE2A59"/>
      </a:accent5>
      <a:accent6>
        <a:srgbClr val="DB5E29"/>
      </a:accent6>
      <a:hlink>
        <a:srgbClr val="E52217"/>
      </a:hlink>
      <a:folHlink>
        <a:srgbClr val="CE2A59"/>
      </a:folHlink>
    </a:clrScheme>
    <a:fontScheme name="Ferrero Legno Report">
      <a:majorFont>
        <a:latin typeface="Figtre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moca interactive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Ferrero Legno - Report Settembre 2026</dc:title>
  <dc:subject>Report mensile settembre 2026</dc:subject>
  <dc:creator>moca interactive</dc:creator>
  <cp:lastModifiedBy>moca interactive</cp:lastModifiedBy>
  <cp:revision>1</cp:revision>
  <dcterms:created xsi:type="dcterms:W3CDTF">2026-10-13T10:16:24Z</dcterms:created>
  <dcterms:modified xsi:type="dcterms:W3CDTF">2026-10-13T10:16:24Z</dcterms:modified>
</cp:coreProperties>
</file>