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c72f8de-0438-0382-0e6a-0ca80a0b5ca4}">
          <p14:sldIdLst>
            <p14:sldId id="256"/>
          </p14:sldIdLst>
        </p14:section>
        <p14:section name="Andamento e risultati" id="{61cb9b3a-0fdf-4e90-54a9-c81f6c94769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In chiusura" id="{dc95ee08-f890-ed8d-4ee0-f68cfecfecc9}">
          <p14:sldIdLst>
            <p14:sldId id="265"/>
            <p14:sldId id="266"/>
          </p14:sldIdLst>
        </p14:section>
        <p14:section name="Contatti" id="{7f7795c0-252c-887c-3b05-97888141386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Sessioni settembre 2026</c:v>
                </c:pt>
              </c:strCache>
            </c:strRef>
          </c:tx>
          <c:spPr>
            <a:solidFill>
              <a:srgbClr val="E52217"/>
            </a:solidFill>
            <a:ln w="31750" cap="flat">
              <a:solidFill>
                <a:srgbClr val="E522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2217"/>
              </a:solidFill>
              <a:ln w="9525" cap="flat">
                <a:solidFill>
                  <a:srgbClr val="E522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584</c:v>
                </c:pt>
                <c:pt idx="1">
                  <c:v>702</c:v>
                </c:pt>
                <c:pt idx="2">
                  <c:v>633</c:v>
                </c:pt>
                <c:pt idx="3">
                  <c:v>656</c:v>
                </c:pt>
                <c:pt idx="4">
                  <c:v>564</c:v>
                </c:pt>
                <c:pt idx="5">
                  <c:v>521</c:v>
                </c:pt>
                <c:pt idx="6">
                  <c:v>623</c:v>
                </c:pt>
                <c:pt idx="7">
                  <c:v>620</c:v>
                </c:pt>
                <c:pt idx="8">
                  <c:v>941</c:v>
                </c:pt>
                <c:pt idx="9">
                  <c:v>935</c:v>
                </c:pt>
                <c:pt idx="10">
                  <c:v>1046</c:v>
                </c:pt>
                <c:pt idx="11">
                  <c:v>938</c:v>
                </c:pt>
                <c:pt idx="12">
                  <c:v>1024</c:v>
                </c:pt>
                <c:pt idx="13">
                  <c:v>938</c:v>
                </c:pt>
                <c:pt idx="14">
                  <c:v>986</c:v>
                </c:pt>
                <c:pt idx="15">
                  <c:v>1076</c:v>
                </c:pt>
                <c:pt idx="16">
                  <c:v>985</c:v>
                </c:pt>
                <c:pt idx="17">
                  <c:v>952</c:v>
                </c:pt>
                <c:pt idx="18">
                  <c:v>969</c:v>
                </c:pt>
                <c:pt idx="19">
                  <c:v>955</c:v>
                </c:pt>
                <c:pt idx="20">
                  <c:v>966</c:v>
                </c:pt>
                <c:pt idx="21">
                  <c:v>953</c:v>
                </c:pt>
                <c:pt idx="22">
                  <c:v>975</c:v>
                </c:pt>
                <c:pt idx="23">
                  <c:v>937</c:v>
                </c:pt>
                <c:pt idx="24">
                  <c:v>885</c:v>
                </c:pt>
                <c:pt idx="25">
                  <c:v>892</c:v>
                </c:pt>
                <c:pt idx="26">
                  <c:v>910</c:v>
                </c:pt>
                <c:pt idx="27">
                  <c:v>907</c:v>
                </c:pt>
                <c:pt idx="28">
                  <c:v>894</c:v>
                </c:pt>
                <c:pt idx="29">
                  <c:v>863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Sessioni settembre 2025</c:v>
                </c:pt>
              </c:strCache>
            </c:strRef>
          </c:tx>
          <c:spPr>
            <a:solidFill>
              <a:srgbClr val="CCCCCC"/>
            </a:solidFill>
            <a:ln w="31750" cap="flat">
              <a:solidFill>
                <a:srgbClr val="CCCC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604</c:v>
                </c:pt>
                <c:pt idx="1">
                  <c:v>627</c:v>
                </c:pt>
                <c:pt idx="2">
                  <c:v>520</c:v>
                </c:pt>
                <c:pt idx="3">
                  <c:v>556</c:v>
                </c:pt>
                <c:pt idx="4">
                  <c:v>506</c:v>
                </c:pt>
                <c:pt idx="5">
                  <c:v>474</c:v>
                </c:pt>
                <c:pt idx="6">
                  <c:v>380</c:v>
                </c:pt>
                <c:pt idx="7">
                  <c:v>556</c:v>
                </c:pt>
                <c:pt idx="8">
                  <c:v>579</c:v>
                </c:pt>
                <c:pt idx="9">
                  <c:v>583</c:v>
                </c:pt>
                <c:pt idx="10">
                  <c:v>539</c:v>
                </c:pt>
                <c:pt idx="11">
                  <c:v>535</c:v>
                </c:pt>
                <c:pt idx="12">
                  <c:v>501</c:v>
                </c:pt>
                <c:pt idx="13">
                  <c:v>433</c:v>
                </c:pt>
                <c:pt idx="14">
                  <c:v>533</c:v>
                </c:pt>
                <c:pt idx="15">
                  <c:v>592</c:v>
                </c:pt>
                <c:pt idx="16">
                  <c:v>573</c:v>
                </c:pt>
                <c:pt idx="17">
                  <c:v>599</c:v>
                </c:pt>
                <c:pt idx="18">
                  <c:v>559</c:v>
                </c:pt>
                <c:pt idx="19">
                  <c:v>448</c:v>
                </c:pt>
                <c:pt idx="20">
                  <c:v>410</c:v>
                </c:pt>
                <c:pt idx="21">
                  <c:v>595</c:v>
                </c:pt>
                <c:pt idx="22">
                  <c:v>522</c:v>
                </c:pt>
                <c:pt idx="23">
                  <c:v>610</c:v>
                </c:pt>
                <c:pt idx="24">
                  <c:v>539</c:v>
                </c:pt>
                <c:pt idx="25">
                  <c:v>536</c:v>
                </c:pt>
                <c:pt idx="26">
                  <c:v>477</c:v>
                </c:pt>
                <c:pt idx="27">
                  <c:v>411</c:v>
                </c:pt>
                <c:pt idx="28">
                  <c:v>602</c:v>
                </c:pt>
                <c:pt idx="29">
                  <c:v>540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95959"/>
                </a:solidFill>
                <a:latin typeface="Figtre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Figtre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95959"/>
              </a:solidFill>
              <a:latin typeface="Figtree"/>
              <a:cs typeface="Figtre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E522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Search</c:v>
                  </c:pt>
                  <c:pt idx="1">
                    <c:v>Paid Social</c:v>
                  </c:pt>
                  <c:pt idx="2">
                    <c:v>Cross-net.</c:v>
                  </c:pt>
                  <c:pt idx="3">
                    <c:v>Org. Search</c:v>
                  </c:pt>
                  <c:pt idx="4">
                    <c:v>Direct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8129</c:v>
                </c:pt>
                <c:pt idx="1">
                  <c:v>5933</c:v>
                </c:pt>
                <c:pt idx="2">
                  <c:v>3917</c:v>
                </c:pt>
                <c:pt idx="3">
                  <c:v>4271</c:v>
                </c:pt>
                <c:pt idx="4">
                  <c:v>1914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 Search</c:v>
                  </c:pt>
                  <c:pt idx="1">
                    <c:v>Paid Social</c:v>
                  </c:pt>
                  <c:pt idx="2">
                    <c:v>Cross-net.</c:v>
                  </c:pt>
                  <c:pt idx="3">
                    <c:v>Org. Search</c:v>
                  </c:pt>
                  <c:pt idx="4">
                    <c:v>Direct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3876</c:v>
                </c:pt>
                <c:pt idx="1">
                  <c:v>4676</c:v>
                </c:pt>
                <c:pt idx="2">
                  <c:v>19</c:v>
                </c:pt>
                <c:pt idx="3">
                  <c:v>4448</c:v>
                </c:pt>
                <c:pt idx="4">
                  <c:v>2009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Figtre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95959"/>
                </a:solidFill>
                <a:latin typeface="Figtre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595959"/>
              </a:solidFill>
              <a:latin typeface="Figtree"/>
              <a:cs typeface="Figtre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 2026</c:v>
                </c:pt>
              </c:strCache>
            </c:strRef>
          </c:tx>
          <c:spPr>
            <a:solidFill>
              <a:srgbClr val="E522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Search Generic</c:v>
                  </c:pt>
                  <c:pt idx="1">
                    <c:v>DG Traffico</c:v>
                  </c:pt>
                  <c:pt idx="2">
                    <c:v>DG Lead Gen</c:v>
                  </c:pt>
                  <c:pt idx="3">
                    <c:v>Brand Product</c:v>
                  </c:pt>
                  <c:pt idx="4">
                    <c:v>Brand Prot.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2827</c:v>
                </c:pt>
                <c:pt idx="1">
                  <c:v>1251</c:v>
                </c:pt>
                <c:pt idx="2">
                  <c:v>636</c:v>
                </c:pt>
                <c:pt idx="3">
                  <c:v>240</c:v>
                </c:pt>
                <c:pt idx="4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Set 2025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Search Generic</c:v>
                  </c:pt>
                  <c:pt idx="1">
                    <c:v>DG Traffico</c:v>
                  </c:pt>
                  <c:pt idx="2">
                    <c:v>DG Lead Gen</c:v>
                  </c:pt>
                  <c:pt idx="3">
                    <c:v>Brand Product</c:v>
                  </c:pt>
                  <c:pt idx="4">
                    <c:v>Brand Prot.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2153</c:v>
                </c:pt>
                <c:pt idx="1">
                  <c:v>0</c:v>
                </c:pt>
                <c:pt idx="2">
                  <c:v>0</c:v>
                </c:pt>
                <c:pt idx="3">
                  <c:v>210</c:v>
                </c:pt>
                <c:pt idx="4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Figtre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595959"/>
              </a:solidFill>
              <a:latin typeface="Figtree"/>
              <a:cs typeface="Figtree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522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9144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FERRERO</a:t>
            </a:r>
            <a:endParaRPr lang="en-US" sz="56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LEGNO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7777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DESIGN TO BE OPEN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Report settembre 2026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13 ottobre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608076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6035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Andamento e risultati</a:t>
            </a:r>
            <a:endParaRPr lang="en-US" sz="3800" dirty="0"/>
          </a:p>
          <a:p>
            <a:pPr indent="0" marL="0">
              <a:buNone/>
            </a:pPr>
            <a:r>
              <a:rPr lang="en-US" sz="38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Settembre 2026.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TRAFFICO AL SITO | PANORAMICA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Forte crescita delle sessioni a settembre: +59% rispetto al 2025, trainata dai canali paid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315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4F5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SESSIONI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25.691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+59,4%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16.115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229600" y="32918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4F5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3429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UTENTI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18.350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+69,7%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10.814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195560" y="15544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4F5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33272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VISUALIZZAZIONI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84.993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+9,1%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77.872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195560" y="32918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4F5F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0" y="3429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TASSO COINVOLGIMENTO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86,0%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033272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-0,1pp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332720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86,1%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303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Nonostante un avvio lento nella prima settimana, le sessioni hanno raggiunto picchi sopra le 1.000 sessioni/giorno dalla seconda settimana in poi, con un trend stabile e superiore al 2025.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GA4 | Periodo analizzato: set 2026 YoY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TRAFFICO PAID | PANORAMICA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Il paid guida il 70% del traffico totale, con Paid Search e Cross-network in fortissima crescita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"/>
                <a:gridCol w="1097280"/>
                <a:gridCol w="822960"/>
                <a:gridCol w="109728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Canale di traffico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Sessioni 2026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% sul tot.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Sessioni 2025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Var. 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Paid Search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8.129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31,6%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3.876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+109,7%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Paid Social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5.933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23,1%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4.676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+26,9%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Cross-network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3.917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15,2%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19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+20.516%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Organic Search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4.271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16,6%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4.448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-4,0%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Direct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1.914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7,5%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2.009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-4,7%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Organic Social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234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0,9%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410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-42,9%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Altro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1.293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5,0%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677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+91,0%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Totale complessivo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25.691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100%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16.115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+59,4%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589520" y="155448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Forte crescita generale delle sessioni da Paid Search (+110%).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 generale il paid porta il 70% del traffico totale. Cross-network e Organic Social: menzione particolare al canale in cui confluiscono campagne Demand Gen, PMax, YouTube e Display, cresciuto enormemente rispetto allo scorso anno.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GA4 | Periodo analizzato: set 2026 YoY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TRAFFICO ORGANICO | PANORAMICA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Il traffico organico continua il trend di calo YoY, con clic in diminuzione e impression in lieve crescita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5.391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-18%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6.593 set 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4F5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IMPRESSION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123.803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+1,7%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121.681 set 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4F5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CTR MEDIO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4,35%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-1,07pp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5,42% set 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961120" y="16459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4F5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POSIZIONE MEDIA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11,9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+4 pos.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vs 15,9 set 2025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Rispetto all'anno precedente registriamo un calo dei clic organici (-18%), nonostante le impression siano leggermente in crescita (+1,7%). </a:t>
            </a:r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CTR e posizione media migliorano rispettivamente a 4,35% e 11,9,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segno che il posizionamento del sito migliora ma il volume complessivo di ricerche cala, in linea con il trend di settore. L'erosione del CTR da AI Overview e il calo delle ricerche di brand continuano a incidere.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GSC - IT | Periodo analizzato: set 2026 YoY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TRAFFICO AL SITO | FOCUS ADVERTISING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Google consolida la crescita con CPC in calo, Meta mantiene i volumi con investimento stabile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Google e il primo canale paid per traffico al sito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CLIC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44.231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+465%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IMPRESSION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465.037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+552%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5.193 €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4297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+102%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CPC MEDIO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0,12 €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-64%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4F5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Meta Ads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Meta mantiene i volumi con CTR in miglioramento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743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LINK CLIC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12.970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-6,7%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REACH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663.579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-8,0%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114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3.826 €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297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+10,6%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CPC MEDIO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0,30 €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+18,5%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Google Ads, Meta Ads | Periodo analizzato: set 2026 YoY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GOOGLE ADS | DETTAGLIO CAMPAGNE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Demand Gen e Search Generic sono i principali driver di crescita, con CPC contenuti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09728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Campagna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Clic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Impression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CTR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Costo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CPC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Search Generic (Consideration)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17.384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92.951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18,7%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2.827 €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0,16 €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DG Consideration Traffico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19.737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295.383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6,7%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1.251 €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0,06 €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DG Conversion Lead Gen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2.288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64.777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3,5%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636 €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0,28 €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Search Brand Product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1.911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5.122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37,3%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240 €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0,13 €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Search Brand Protection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2.911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6.804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42,8%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239 €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0,08 €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Totale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44.231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465.037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9,5%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5.193 €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0,12 €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72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YoY: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 clic complessivi crescono del +465% con un investimento che raddoppia (+102%), ma il CPC medio scende del 64% (da 0,33 a 0,12 €). Le campagne Demand Gen, assenti nel 2025, portano da sole oltre 22.000 clic a costi molto contenuti.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5120640"/>
          <a:ext cx="112471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Google Ads | Periodo analizzato: set 2026 YoY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META ADS | DETTAGLIO CAMPAGNE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Blog e Lead Generation rivenditori concentrano la maggior parte dell'investimento Meta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09728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Campagna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Link clic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CTR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CPC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Spesa</a:t>
                      </a:r>
                      <a:endParaRPr lang="en-US" sz="9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9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Lead Gen Rivenditori DEF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2.308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1,92%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0,48 €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1.108 €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Blog Consideration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7.059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2,26%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0,15 €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1.061 €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FEEL5 B2B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575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0,92%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0,99 €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572 €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Iscrizioni Area Pro B2B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491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0,87%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1,13 €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556 €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Promo PED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429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0,07%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0,68 €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292 €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Store Locator B2C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2.108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2,01%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0,11 €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237 €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Totale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12.970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1,01%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0,30 €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91919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3.826 €</a:t>
                      </a:r>
                      <a:endParaRPr lang="en-US" sz="10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campagna Blog (Consideration)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porta il volume maggiore di clic (7.059) con un CPC molto efficiente di 0,15 €. La campagna Lead Gen Rivenditori genera traffico qualificato con un CTR del 1,92%. Store Locator si conferma efficiente con CPC di 0,11 €.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Meta Ads | Periodo analizzato: set 2026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TRAFFICO ORGANICO | DETTAGLIO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Clic e impression globali: la posizione migliora ma il CTR scende per effetto AI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DATI GLOBALI (TUTTI I PAESI)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CLIC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6.738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-13,3%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IMPRESSION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220.993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+12,1%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CTR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3,05%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-0,89pp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920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23960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POSIZIONE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10,3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+4 pos.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DATI ITALIA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CLIC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5.391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-18,2%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3756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IMPRESSION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123.803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333756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+1,7%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08076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CTR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4,35%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-1,07pp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6800" y="39319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23960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POSIZIONE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11,9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4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+4 pos.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486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L'Italia pesa per l'80% dei clic organici. Nonostante il miglioramento della posizione media (da 15,9 a 11,9), i clic calano per effetto combinato della contrazione della domanda di settore, dell'erosione del CTR da AI Overview e del calo delle ricerche di brand.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Fonte dati: GSC | Periodo analizzato: set 2026 YoY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 chiusura.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RIEPILOGO | SETTEMBRE 2026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Punti chiave e considerazioni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CRESCITA TRAFFICO PAID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 sessioni totali crescono del 59% YoY, trainate dall'investimento paid. I canali a pagamento portano il 70% del traffico complessivo. In particolare, Search Generic (+353%) e le nuove campagne Demand Gen guidano la crescita con CPC molto efficiente (0,06-0,16 €).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CALO ORGANICO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Il traffico organico continua il trend di calo (-18% clic in Italia). Le cause principali restano la contrazione della domanda di settore, l'erosione del CTR da AI Overview e il calo delle ricerche di brand. La posizione media migliora (da 15,9 a 11,9), segno che non si tratta di un problema di posizionamento.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META ADS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60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campagna Blog si conferma il miglior canale per traffico qualificato a basso costo (CPC 0,15 €). La Lead Gen Rivenditori porta conversioni con un CTR del 1,92%. L'investimento totale su Meta cresce del 10,6% a 3.826 €.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0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120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PROSSIMI PASSI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Definire i filoni da veicolare nelle campagne DG Traffico. Monitorare l'impatto di AI Overview sui contenuti del magazine. Valutare l'allocazione del budget sui canali paid in vista della stagione autunnale.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731520"/>
            <a:ext cx="548640" cy="548640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0" y="731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Federico Rugger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Project Account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federico.rugger@mocainteractive.com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Valeria Pompili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Digital Advertising Specialist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valeria.pompili@mocainteractive.com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Daniele Bertini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Digital Analytics Specialist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daniele.bertini@mocainteractive.com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Alessio Trombone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Digital Advertising Specialist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alessio.trombone@mocainteractive.com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Tommaso Minello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SEO Specialist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221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tommaso.minello@mocainteractive.com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 Interactive S.r.l. Societa Benefit | Via Cernaia, 2 - 35141 Padova | P.IVA 04230520287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1292840" y="6355080"/>
            <a:ext cx="201168" cy="201168"/>
          </a:xfrm>
          <a:prstGeom prst="ellipse">
            <a:avLst/>
          </a:prstGeom>
          <a:solidFill>
            <a:srgbClr val="E522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539728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rero Legno Report">
  <a:themeElements>
    <a:clrScheme name="Ferrero Legno Report">
      <a:dk1>
        <a:srgbClr val="191919"/>
      </a:dk1>
      <a:lt1>
        <a:srgbClr val="FFFFFF"/>
      </a:lt1>
      <a:dk2>
        <a:srgbClr val="595959"/>
      </a:dk2>
      <a:lt2>
        <a:srgbClr val="F4F5F6"/>
      </a:lt2>
      <a:accent1>
        <a:srgbClr val="E52217"/>
      </a:accent1>
      <a:accent2>
        <a:srgbClr val="118541"/>
      </a:accent2>
      <a:accent3>
        <a:srgbClr val="5781FF"/>
      </a:accent3>
      <a:accent4>
        <a:srgbClr val="551FC4"/>
      </a:accent4>
      <a:accent5>
        <a:srgbClr val="CE2A59"/>
      </a:accent5>
      <a:accent6>
        <a:srgbClr val="DB5E29"/>
      </a:accent6>
      <a:hlink>
        <a:srgbClr val="E52217"/>
      </a:hlink>
      <a:folHlink>
        <a:srgbClr val="CE2A59"/>
      </a:folHlink>
    </a:clrScheme>
    <a:fontScheme name="Ferrero Legno Report">
      <a:majorFont>
        <a:latin typeface="Figtre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moca interactive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Ferrero Legno - Report Settembre 2026</dc:title>
  <dc:subject>Report mensile settembre 2026</dc:subject>
  <dc:creator>moca interactive</dc:creator>
  <cp:lastModifiedBy>moca interactive</cp:lastModifiedBy>
  <cp:revision>1</cp:revision>
  <dcterms:created xsi:type="dcterms:W3CDTF">2026-10-13T09:49:39Z</dcterms:created>
  <dcterms:modified xsi:type="dcterms:W3CDTF">2026-10-13T09:49:39Z</dcterms:modified>
</cp:coreProperties>
</file>